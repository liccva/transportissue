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E20C7109-C648-C68F-62ED-BDE70F6E63FB}">
          <p14:sldIdLst>
            <p14:sldId id="256"/>
            <p14:sldId id="257"/>
            <p14:sldId id="258"/>
          </p14:sldIdLst>
        </p14:section>
        <p14:section name="Часть 1. Модели данных" id="{7C4F40F2-B0F3-A8B4-0466-02B1BA7651C0}">
          <p14:sldIdLst>
            <p14:sldId id="259"/>
            <p14:sldId id="260"/>
            <p14:sldId id="261"/>
            <p14:sldId id="262"/>
            <p14:sldId id="263"/>
          </p14:sldIdLst>
        </p14:section>
        <p14:section name="Часть 2. Метод потенциалов" id="{BE7D77E5-11E4-9BE4-1BED-28F3E0FEB75C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Часть 3. Загрузка и проверка" id="{0739DCB9-D7A5-2CFD-B528-F8FC1944CBD4}">
          <p14:sldIdLst>
            <p14:sldId id="272"/>
            <p14:sldId id="273"/>
            <p14:sldId id="274"/>
            <p14:sldId id="275"/>
          </p14:sldIdLst>
        </p14:section>
        <p14:section name="Часть 4. Экспорт" id="{2DFFDD84-B42F-B835-9B07-C412683BE831}">
          <p14:sldIdLst>
            <p14:sldId id="276"/>
          </p14:sldIdLst>
        </p14:section>
        <p14:section name="Итог" id="{EF23033C-9F23-F280-C01A-7CB81B4AB25E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53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расскажу о первой части проекта — моделях данных. Это фундамент программы: классы, которые хранят условие транспортной задачи и следят, чтобы оно было корректным. Остальные части — загрузка из Excel, решатель и экспорт — работают уже с этими объектами.
В модуле models.py пять классов. Storage — общая модель участника перевозок: у него есть имя и объём. От него наследуются Supplier — поставщик с объёмом запасов — и Consumer — потребитель с объёмом потребления. Matrix — прямоугольная матрица неотрицательных чисел: в ней хранятся тарифы и план перевозок. И TransportTable — транспортная таблица, которая объединяет всё вместе: участников, тарифы, план и целевую функцию.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идея этой части: объект с неправильными данными создать нельзя. Поэтому все проверки находятся в конструкторах.
Storage хранит два поля: имя — строку и объём — число. Конструктор проверяет, что имя не пустое, а объём — неотрицательное число, иначе выбрасывается ValueError. При этом сам Storage — абстрактный класс: он наследуется от ABC, и создать его экземпляр нельзя, Python выдаст TypeError. Так выполнено требование ТЗ.
Supplier и Consumer своих полей и конструкторов не имеют: они наследуют их от Storage, поэтому проверка одна на оба класса.
Matrix хранит поле items — список строк матрицы. Конструктор копирует данные и проверяет, что матрица прямоугольная и в ней нет отрицательных чисел. Для начального плана есть альтернативный конструктор Matrix.zeros — он создаёт матрицу нулей.
TransportTable проверяет больше всех: что поставщики — действительно Supplier, а потребители — Consumer, и что размеры матрицы тарифов совпадают с числом участников. Затем он балансирует задачу и создаёт нулевой план supply_volumes.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методы. В Storage метод __str__ абстрактный — каждый наследник обязан его определить. Supplier и Consumer его переопределяют, и вывод получается в точности как в ТЗ: «Поставщик A1 (объём запасов: 20)».
В Matrix использованы разные виды методов. zeros — метод класса. _validate_values — статический метод: одно правило «только неотрицательные числа» для всех способов изменить матрицу. num_rows и num_cols сделаны через @property: размер не хранится, а считается при каждом обращении, поэтому после добавления строки или столбца он всегда актуален — это тоже требование ТЗ. Квадратные скобки переопределены: можно писать m[i, j], а запись нового значения тоже проходит проверку. add_row и add_column расширяют матрицу при балансировке.
У TransportTable внутренние методы проверяют размеры и балансируют задачу. Свойства считают суммы запасов и потребления и целевую функцию — суммарную стоимость перевозок. Метод represent выводит транспортную таблицу в консоль.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Отдельно про балансировку — это самая содержательная логика нашей части. Метод потенциалов работает только с закрытой задачей, где сумма запасов равна сумме потребностей.
Если запасов больше, конструктор добавляет фиктивного потребителя на разницу и столбец нулевых тарифов. Если больше потребность — фиктивного поставщика и строку нулей. Нулевой тариф означает, что реальной перевозки нет: это груз, который остался на складе, или спрос, который не удовлетворён. На стоимость он не влияет.
В примере на слайде запасы 30 и 20, всего 50, а потребность 10 и 15, всего 25. Программа добавила фиктивного потребителя с объёмом 25. После решения видно: поставщик A1 полностью обслуживает обоих потребителей, а остатки — 5 единиц у A1 и все 20 у A2 — уходят фиктивному, то есть остаются на складах. Везти из A2 дороже, поэтому выгоднее обслужить всех из A1. Стоимость — 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нашей части — на диаграмме классов в нотации UML. В центре — TransportTable. С поставщиками, потребителями и матрицей тарифов она связана агрегацией — это пустой ромб: эти объекты создаются снаружи, загрузчиком, и передаются в таблицу. С матрицей плана — композицией, закрашенный ромб: её таблица создаёт сама.
Supplier и Consumer наследуют абстрактный Storage — это стрелка с полым треугольником. Пунктирные стрелки — зависимости от служебных функций модуля: форматирования чисел и проверки.
На этом первая часть всё. Дальше — сам метод потенциалов: как программа находит оптимальный план.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8036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Часть 1 · Модели данных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Часть 2 · Метод потенциалов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Часть 3 · Загрузка и проверка данных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Часть 4 · Экспорт результатов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МЕТОД ПОТЕНЦИАЛОВ · PYTHON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Программирование транспортной задачи на Python</a:t>
            </a:r>
            <a:endParaRPr lang="en-US" sz="38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80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Дисциплина: Цифровые технологии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chemeClr val="accent5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Выполнили студенты группы МПШ02-26-01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Валишин Н.А., Кадин А.А., Комаров К.А., Ширяева О.Д.</a:t>
            </a:r>
            <a:endParaRPr lang="en-US" sz="1600" dirty="0"/>
          </a:p>
        </p:txBody>
      </p:sp>
      <p:sp>
        <p:nvSpPr>
          <p:cNvPr id="5" name="route-dot"/>
          <p:cNvSpPr/>
          <p:nvPr/>
        </p:nvSpPr>
        <p:spPr>
          <a:xfrm>
            <a:off x="603504" y="44988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route"/>
          <p:cNvSpPr/>
          <p:nvPr/>
        </p:nvSpPr>
        <p:spPr>
          <a:xfrm>
            <a:off x="749808" y="457200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7" name="route-dot"/>
          <p:cNvSpPr/>
          <p:nvPr/>
        </p:nvSpPr>
        <p:spPr>
          <a:xfrm>
            <a:off x="1014984" y="44988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route"/>
          <p:cNvSpPr/>
          <p:nvPr/>
        </p:nvSpPr>
        <p:spPr>
          <a:xfrm>
            <a:off x="1161288" y="457200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9" name="route-dot"/>
          <p:cNvSpPr/>
          <p:nvPr/>
        </p:nvSpPr>
        <p:spPr>
          <a:xfrm>
            <a:off x="1426464" y="44988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route"/>
          <p:cNvSpPr/>
          <p:nvPr/>
        </p:nvSpPr>
        <p:spPr>
          <a:xfrm>
            <a:off x="1572768" y="457200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1" name="route-dot"/>
          <p:cNvSpPr/>
          <p:nvPr/>
        </p:nvSpPr>
        <p:spPr>
          <a:xfrm>
            <a:off x="1837944" y="44988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Постановка задачи</a:t>
            </a:r>
            <a:endParaRPr lang="en-US" sz="2800" dirty="0"/>
          </a:p>
        </p:txBody>
      </p:sp>
      <p:sp>
        <p:nvSpPr>
          <p:cNvPr id="3" name="goal-label"/>
          <p:cNvSpPr/>
          <p:nvPr/>
        </p:nvSpPr>
        <p:spPr>
          <a:xfrm>
            <a:off x="457200" y="1463040"/>
            <a:ext cx="960120" cy="384048"/>
          </a:xfrm>
          <a:prstGeom prst="roundRect">
            <a:avLst>
              <a:gd name="adj" fmla="val 1904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Цель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42646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Программа на Python 3.12+, которая решает транспортную задачу методом потенциалов</a:t>
            </a:r>
            <a:endParaRPr lang="en-US" sz="1400" dirty="0"/>
          </a:p>
        </p:txBody>
      </p:sp>
      <p:sp>
        <p:nvSpPr>
          <p:cNvPr id="5" name="goal-label"/>
          <p:cNvSpPr/>
          <p:nvPr/>
        </p:nvSpPr>
        <p:spPr>
          <a:xfrm>
            <a:off x="457200" y="2468880"/>
            <a:ext cx="960120" cy="384048"/>
          </a:xfrm>
          <a:prstGeom prst="roundRect">
            <a:avLst>
              <a:gd name="adj" fmla="val 1904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Вход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43230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Таблица Excel: поставщики и их запасы, потребители и их потребности, матрица тарифов</a:t>
            </a:r>
            <a:endParaRPr lang="en-US" sz="1400" dirty="0"/>
          </a:p>
        </p:txBody>
      </p:sp>
      <p:sp>
        <p:nvSpPr>
          <p:cNvPr id="7" name="goal-label"/>
          <p:cNvSpPr/>
          <p:nvPr/>
        </p:nvSpPr>
        <p:spPr>
          <a:xfrm>
            <a:off x="457200" y="3474720"/>
            <a:ext cx="960120" cy="384048"/>
          </a:xfrm>
          <a:prstGeom prst="roundRect">
            <a:avLst>
              <a:gd name="adj" fmla="val 1904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Выход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43814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Оптимальный план перевозок и его минимальная суммарная стоимость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892040" y="1325880"/>
            <a:ext cx="37947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444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Требования ТЗ</a:t>
            </a:r>
            <a:endParaRPr lang="en-US" sz="1500" dirty="0"/>
          </a:p>
        </p:txBody>
      </p:sp>
      <p:sp>
        <p:nvSpPr>
          <p:cNvPr id="11" name="badge-1"/>
          <p:cNvSpPr/>
          <p:nvPr/>
        </p:nvSpPr>
        <p:spPr>
          <a:xfrm>
            <a:off x="5120640" y="19110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8745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r>
              <a:rPr lang="en-US" sz="1200" dirty="0">
                <a:solidFill>
                  <a:schemeClr val="tx1"/>
                </a:solidFill>
              </a:rPr>
              <a:t> — базовая модель участника</a:t>
            </a:r>
            <a:endParaRPr lang="en-US" sz="1200" dirty="0"/>
          </a:p>
        </p:txBody>
      </p:sp>
      <p:sp>
        <p:nvSpPr>
          <p:cNvPr id="13" name="badge-2"/>
          <p:cNvSpPr/>
          <p:nvPr/>
        </p:nvSpPr>
        <p:spPr>
          <a:xfrm>
            <a:off x="5120640" y="229514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2585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Supplier, Consumer</a:t>
            </a:r>
            <a:r>
              <a:rPr lang="en-US" sz="1200" dirty="0">
                <a:solidFill>
                  <a:schemeClr val="tx1"/>
                </a:solidFill>
              </a:rPr>
              <a:t> — участники перевозок</a:t>
            </a:r>
            <a:endParaRPr lang="en-US" sz="1200" dirty="0"/>
          </a:p>
        </p:txBody>
      </p:sp>
      <p:sp>
        <p:nvSpPr>
          <p:cNvPr id="15" name="badge-3"/>
          <p:cNvSpPr/>
          <p:nvPr/>
        </p:nvSpPr>
        <p:spPr>
          <a:xfrm>
            <a:off x="5120640" y="267919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6426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</a:t>
            </a:r>
            <a:r>
              <a:rPr lang="en-US" sz="1200" dirty="0">
                <a:solidFill>
                  <a:schemeClr val="tx1"/>
                </a:solidFill>
              </a:rPr>
              <a:t> — тарифы и план перевозок</a:t>
            </a:r>
            <a:endParaRPr lang="en-US" sz="1200" dirty="0"/>
          </a:p>
        </p:txBody>
      </p:sp>
      <p:sp>
        <p:nvSpPr>
          <p:cNvPr id="17" name="badge-4"/>
          <p:cNvSpPr/>
          <p:nvPr/>
        </p:nvSpPr>
        <p:spPr>
          <a:xfrm>
            <a:off x="5120640" y="306324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0266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TransportTable</a:t>
            </a:r>
            <a:r>
              <a:rPr lang="en-US" sz="1200" dirty="0">
                <a:solidFill>
                  <a:schemeClr val="tx1"/>
                </a:solidFill>
              </a:rPr>
              <a:t> — транспортная таблица</a:t>
            </a:r>
            <a:endParaRPr lang="en-US" sz="1200" dirty="0"/>
          </a:p>
        </p:txBody>
      </p:sp>
      <p:sp>
        <p:nvSpPr>
          <p:cNvPr id="19" name="badge-5"/>
          <p:cNvSpPr/>
          <p:nvPr/>
        </p:nvSpPr>
        <p:spPr>
          <a:xfrm>
            <a:off x="5120640" y="344728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4107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DataLoader.load_data</a:t>
            </a:r>
            <a:r>
              <a:rPr lang="en-US" sz="1200" dirty="0">
                <a:solidFill>
                  <a:schemeClr val="tx1"/>
                </a:solidFill>
              </a:rPr>
              <a:t> — загрузка из файла</a:t>
            </a:r>
            <a:endParaRPr lang="en-US" sz="1200" dirty="0"/>
          </a:p>
        </p:txBody>
      </p:sp>
      <p:sp>
        <p:nvSpPr>
          <p:cNvPr id="21" name="badge-6"/>
          <p:cNvSpPr/>
          <p:nvPr/>
        </p:nvSpPr>
        <p:spPr>
          <a:xfrm>
            <a:off x="5120640" y="383133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7947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solve_transport_problem</a:t>
            </a:r>
            <a:r>
              <a:rPr lang="en-US" sz="1200" dirty="0">
                <a:solidFill>
                  <a:schemeClr val="tx1"/>
                </a:solidFill>
              </a:rPr>
              <a:t> — решатель</a:t>
            </a:r>
            <a:endParaRPr lang="en-US" sz="1200" dirty="0"/>
          </a:p>
        </p:txBody>
      </p:sp>
      <p:sp>
        <p:nvSpPr>
          <p:cNvPr id="23" name="badge-7"/>
          <p:cNvSpPr/>
          <p:nvPr/>
        </p:nvSpPr>
        <p:spPr>
          <a:xfrm>
            <a:off x="5120640" y="421538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41788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Библиотеки:</a:t>
            </a:r>
            <a:r>
              <a:rPr lang="en-US" sz="1200" dirty="0">
                <a:solidFill>
                  <a:schemeClr val="tx1"/>
                </a:solidFill>
              </a:rPr>
              <a:t> встроенные + openpyxl, tabulate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Программа из четырёх частей</a:t>
            </a:r>
            <a:endParaRPr lang="en-US" sz="2800" dirty="0"/>
          </a:p>
        </p:txBody>
      </p:sp>
      <p:sp>
        <p:nvSpPr>
          <p:cNvPr id="3" name="route"/>
          <p:cNvSpPr/>
          <p:nvPr/>
        </p:nvSpPr>
        <p:spPr>
          <a:xfrm>
            <a:off x="1463040" y="1755648"/>
            <a:ext cx="62179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badge-1"/>
          <p:cNvSpPr/>
          <p:nvPr/>
        </p:nvSpPr>
        <p:spPr>
          <a:xfrm>
            <a:off x="1188720" y="1481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Модели данных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Поставщики, потребители, матрицы и транспортная таблица с балансировкой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264408" y="1481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78608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Метод потенциалов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solver.py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78608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Начальный план и его улучшение до оптимального</a:t>
            </a:r>
            <a:endParaRPr lang="en-US" sz="1300" dirty="0"/>
          </a:p>
        </p:txBody>
      </p:sp>
      <p:sp>
        <p:nvSpPr>
          <p:cNvPr id="12" name="badge-3"/>
          <p:cNvSpPr/>
          <p:nvPr/>
        </p:nvSpPr>
        <p:spPr>
          <a:xfrm>
            <a:off x="5330952" y="1481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Загрузка и проверка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data_loader.py · batch.py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Чтение .xlsx и поиск всех ошибок данных за один проход</a:t>
            </a:r>
            <a:endParaRPr lang="en-US" sz="1300" dirty="0"/>
          </a:p>
        </p:txBody>
      </p:sp>
      <p:sp>
        <p:nvSpPr>
          <p:cNvPr id="16" name="badge-4"/>
          <p:cNvSpPr/>
          <p:nvPr/>
        </p:nvSpPr>
        <p:spPr>
          <a:xfrm>
            <a:off x="7406640" y="1481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Экспорт в Excel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result_writer.py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Результат с оформлением исходного файла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Excel  →  проверенная модель  →  оптимальный план  →  Excel с оформлением исходника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Обзор: модели данных</a:t>
            </a:r>
            <a:endParaRPr lang="en-US" sz="26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9260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Класс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Назначение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Родитель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общая модель участника перевозок: имя и объём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ABC (абстрактный)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Supplier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поставщик — объём запасов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Consumer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потребитель — объём потребления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Matrix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прямоугольная матрица неотрицательных чисел: тарифы и план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object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TransportTable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транспортная таблица: участники, тарифы, план, целевая функция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object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Классы: поля и конструкторы</a:t>
            </a:r>
            <a:endParaRPr lang="en-US" sz="26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Класс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Родитель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Поля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Конструктор: что проверяет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 (абстрактный)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name: str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resources: 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Имя — непустая строка, объём — число ≥ 0, иначе ValueError. Сам Storage создать нельзя (TypeError)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Supplier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наследует name, resources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наследует Storage.__init__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Consumer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наследует name, resources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наследует Storage.__init__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Matrix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items: list[list[float]]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Копирует строки, проверяет прямоугольность и неотрицательность (ValueError). Также Matrix.zeros(rows, cols)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TransportTable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FICTIVE_NAME (поле класса)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suppliers, consumers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transport_coefficients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supply_volumes, fictive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Проверяет типы (TypeError) и размеры (ValueError), балансирует задачу, создаёт нулевой план supply_volumes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Классы: методы</a:t>
            </a:r>
            <a:endParaRPr lang="en-US" sz="26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Класс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Метод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Вид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Назначение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__str__()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абстрактный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обязателен для наследников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Supplier, Consumer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__str__()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переопределён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«Поставщик A1 (объём запасов: 20)»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Storage, Matrix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__repr__()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специальный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отладочный вид: Supplier('A1', 20)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Matrix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zeros(rows, cols)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@classmethod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матрица нулей — начальный план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Matrix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_validate_values(...)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@staticmethod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единое правило: только неотрицательные числа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Matrix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num_rows, num_cols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@property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размеры, актуальные после любых изменений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Matrix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__getitem__, __setitem__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оператор []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m[i, j] и m[i, j] = v с проверкой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Matrix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add_row, add_column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обычные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расширение матрицы при балансировке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TransportTable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_validate_dimensions, _balance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внутренние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проверка размеров; фиктивный участник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TransportTable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total_supply, total_demand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@property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суммы запасов и потребления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TransportTable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transportation_costs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@property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целевая функция Σ тариф × объём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TransportTable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represent()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обычный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таблица и стоимость в консоль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Балансировка: фиктивный участник</a:t>
            </a:r>
            <a:endParaRPr lang="en-US" sz="26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Ситуация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Добавляется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Матрица тарифов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запасы &gt; потребление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фиктивный потребитель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 столбец нулей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потребление &gt; запасы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фиктивный поставщик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 строка нулей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623560" y="1325880"/>
            <a:ext cx="306324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760720" y="1353312"/>
            <a:ext cx="2788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Нулевые тарифы: «перевозка» к фиктивному участнику — это остаток на складе или неудовлетворённый спрос, на стоимость она не влияет</a:t>
            </a:r>
            <a:endParaRPr lang="en-US" sz="1150" dirty="0"/>
          </a:p>
        </p:txBody>
      </p:sp>
      <p:sp>
        <p:nvSpPr>
          <p:cNvPr id="7" name="code"/>
          <p:cNvSpPr/>
          <p:nvPr/>
        </p:nvSpPr>
        <p:spPr>
          <a:xfrm>
            <a:off x="457200" y="2395728"/>
            <a:ext cx="8229600" cy="2286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3" name="code-text"/>
          <p:cNvSpPr txBox="1"/>
          <p:nvPr/>
        </p:nvSpPr>
        <p:spPr>
          <a:xfrm>
            <a:off x="594360" y="2505456"/>
            <a:ext cx="79552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transport_problem import *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TransportTable([Supplier("A1", 30), Supplier("A2", 20)],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[Consumer("B1", 10), Consumer("B2", 15)], Matrix([[1, 2], [3, 4]]))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t.fictive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Consumer('Фиктивный', 25)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solve_transport_problem(t); t.represent()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+----------------------------+------+------+-------------+----------+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Поставщики \ Потребители  |  B1  |  B2  |  Фиктивный  |  Запасы  |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+============================+======+======+=============+==========+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    A1             |  10  |  15  |      5      |    30    |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     A2             |  -   |  -   |     20      |    20    |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Потребление         |  10  |  15  |     25      |    50    |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+----------------------------+------+------+-------------+----------+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Суммарная стоимость перевозок: 40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ass-diagram" descr="D:\transportissue\презентация\часть1_диаграмма_классов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"/>
            <a:ext cx="8046720" cy="4895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Транспортная задача: математическая модель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47548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Найти план перевозок с минимальной суммарной стоимостью доставки от поставщиков к потребителям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Z = ∑ ∑ c</a:t>
            </a:r>
            <a:r>
              <a:rPr lang="en-US" sz="2800" b="1" baseline="-40000" dirty="0">
                <a:solidFill>
                  <a:schemeClr val="tx2"/>
                </a:solidFill>
              </a:rPr>
              <a:t>ij</a:t>
            </a:r>
            <a:r>
              <a:rPr lang="en-US" sz="2800" b="1" dirty="0">
                <a:solidFill>
                  <a:schemeClr val="tx2"/>
                </a:solidFill>
              </a:rPr>
              <a:t> · x</a:t>
            </a:r>
            <a:r>
              <a:rPr lang="en-US" sz="2800" b="1" baseline="-40000" dirty="0">
                <a:solidFill>
                  <a:schemeClr val="tx2"/>
                </a:solidFill>
              </a:rPr>
              <a:t>ij</a:t>
            </a:r>
            <a:r>
              <a:rPr lang="en-US" sz="2800" b="1" dirty="0">
                <a:solidFill>
                  <a:schemeClr val="tx2"/>
                </a:solidFill>
              </a:rPr>
              <a:t>  →  min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24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суммы по i = 1…m и j = 1…n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Ограничения: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01568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∑</a:t>
            </a:r>
            <a:r>
              <a:rPr lang="en-US" sz="1500" baseline="-40000" dirty="0">
                <a:solidFill>
                  <a:schemeClr val="tx1"/>
                </a:solidFill>
              </a:rPr>
              <a:t>j</a:t>
            </a:r>
            <a:r>
              <a:rPr lang="en-US" sz="1500" dirty="0">
                <a:solidFill>
                  <a:schemeClr val="tx1"/>
                </a:solidFill>
              </a:rPr>
              <a:t> x</a:t>
            </a:r>
            <a:r>
              <a:rPr lang="en-US" sz="1500" baseline="-40000" dirty="0">
                <a:solidFill>
                  <a:schemeClr val="tx1"/>
                </a:solidFill>
              </a:rPr>
              <a:t>ij</a:t>
            </a:r>
            <a:r>
              <a:rPr lang="en-US" sz="1500" dirty="0">
                <a:solidFill>
                  <a:schemeClr val="tx1"/>
                </a:solidFill>
              </a:rPr>
              <a:t> = a</a:t>
            </a:r>
            <a:r>
              <a:rPr lang="en-US" sz="1500" baseline="-40000" dirty="0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  — запасы вывезены полностью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∑</a:t>
            </a:r>
            <a:r>
              <a:rPr lang="en-US" sz="1500" baseline="-40000" dirty="0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 x</a:t>
            </a:r>
            <a:r>
              <a:rPr lang="en-US" sz="1500" baseline="-40000" dirty="0">
                <a:solidFill>
                  <a:schemeClr val="tx1"/>
                </a:solidFill>
              </a:rPr>
              <a:t>ij</a:t>
            </a:r>
            <a:r>
              <a:rPr lang="en-US" sz="1500" dirty="0">
                <a:solidFill>
                  <a:schemeClr val="tx1"/>
                </a:solidFill>
              </a:rPr>
              <a:t> = b</a:t>
            </a:r>
            <a:r>
              <a:rPr lang="en-US" sz="1500" baseline="-40000" dirty="0">
                <a:solidFill>
                  <a:schemeClr val="tx1"/>
                </a:solidFill>
              </a:rPr>
              <a:t>j</a:t>
            </a:r>
            <a:r>
              <a:rPr lang="en-US" sz="1500" dirty="0">
                <a:solidFill>
                  <a:schemeClr val="tx1"/>
                </a:solidFill>
              </a:rPr>
              <a:t>  — потребности покрыты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</a:t>
            </a:r>
            <a:r>
              <a:rPr lang="en-US" sz="1500" baseline="-40000" dirty="0">
                <a:solidFill>
                  <a:schemeClr val="tx1"/>
                </a:solidFill>
              </a:rPr>
              <a:t>ij</a:t>
            </a:r>
            <a:r>
              <a:rPr lang="en-US" sz="1500" dirty="0">
                <a:solidFill>
                  <a:schemeClr val="tx1"/>
                </a:solidFill>
              </a:rPr>
              <a:t> ≥ 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</a:t>
            </a:r>
            <a:r>
              <a:rPr lang="en-US" sz="1800" b="1" baseline="-40000" dirty="0">
                <a:solidFill>
                  <a:schemeClr val="accent2"/>
                </a:solidFill>
              </a:rPr>
              <a:t>ij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417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стоимость перевозки единицы груза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039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x</a:t>
            </a:r>
            <a:r>
              <a:rPr lang="en-US" sz="1800" b="1" baseline="-40000" dirty="0">
                <a:solidFill>
                  <a:schemeClr val="accent2"/>
                </a:solidFill>
              </a:rPr>
              <a:t>ij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0391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объём перевозки от поставщика i к потребителю j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6609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</a:t>
            </a:r>
            <a:r>
              <a:rPr lang="en-US" sz="1800" b="1" baseline="-40000" dirty="0">
                <a:solidFill>
                  <a:schemeClr val="accent2"/>
                </a:solidFill>
              </a:rPr>
              <a:t>i</a:t>
            </a:r>
            <a:r>
              <a:rPr lang="en-US" sz="1800" b="1" dirty="0">
                <a:solidFill>
                  <a:schemeClr val="accent2"/>
                </a:solidFill>
              </a:rPr>
              <a:t>, b</a:t>
            </a:r>
            <a:r>
              <a:rPr lang="en-US" sz="1800" b="1" baseline="-40000" dirty="0">
                <a:solidFill>
                  <a:schemeClr val="accent2"/>
                </a:solidFill>
              </a:rPr>
              <a:t>j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6609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запасы поставщиков и потребности потребителей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2826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m, 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2826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число поставщиков и потребителей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Если ∑a ≠ ∑b, задачу закрывает фиктивный участник (часть 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Алгоритм метода потенциалов</a:t>
            </a:r>
            <a:endParaRPr lang="en-US" sz="2600" dirty="0"/>
          </a:p>
        </p:txBody>
      </p:sp>
      <p:sp>
        <p:nvSpPr>
          <p:cNvPr id="3" name="flow-term"/>
          <p:cNvSpPr/>
          <p:nvPr/>
        </p:nvSpPr>
        <p:spPr>
          <a:xfrm>
            <a:off x="457200" y="1499616"/>
            <a:ext cx="1508760" cy="566928"/>
          </a:xfrm>
          <a:prstGeom prst="flowChartTerminator">
            <a:avLst/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Закрытая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задача</a:t>
            </a:r>
            <a:endParaRPr lang="en-US" sz="1100" dirty="0"/>
          </a:p>
        </p:txBody>
      </p:sp>
      <p:sp>
        <p:nvSpPr>
          <p:cNvPr id="4" name="flow-proc"/>
          <p:cNvSpPr/>
          <p:nvPr/>
        </p:nvSpPr>
        <p:spPr>
          <a:xfrm>
            <a:off x="2240280" y="1499616"/>
            <a:ext cx="1874520" cy="566928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Начальный план: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минимальный элемент</a:t>
            </a:r>
            <a:endParaRPr lang="en-US" sz="1100" dirty="0"/>
          </a:p>
        </p:txBody>
      </p:sp>
      <p:sp>
        <p:nvSpPr>
          <p:cNvPr id="5" name="flow-proc"/>
          <p:cNvSpPr/>
          <p:nvPr/>
        </p:nvSpPr>
        <p:spPr>
          <a:xfrm>
            <a:off x="4389120" y="1499616"/>
            <a:ext cx="1874520" cy="566928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Потенциалы u</a:t>
            </a:r>
            <a:r>
              <a:rPr lang="en-US" sz="1100" baseline="-40000" dirty="0">
                <a:solidFill>
                  <a:schemeClr val="tx1"/>
                </a:solidFill>
              </a:rPr>
              <a:t>i</a:t>
            </a:r>
            <a:r>
              <a:rPr lang="en-US" sz="1100" dirty="0">
                <a:solidFill>
                  <a:schemeClr val="tx1"/>
                </a:solidFill>
              </a:rPr>
              <a:t>, v</a:t>
            </a:r>
            <a:r>
              <a:rPr lang="en-US" sz="1100" baseline="-40000" dirty="0">
                <a:solidFill>
                  <a:schemeClr val="tx1"/>
                </a:solidFill>
              </a:rPr>
              <a:t>j</a:t>
            </a:r>
            <a:r>
              <a:rPr lang="en-US" sz="1100" dirty="0">
                <a:solidFill>
                  <a:schemeClr val="tx1"/>
                </a:solidFill>
              </a:rPr>
              <a:t>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u</a:t>
            </a:r>
            <a:r>
              <a:rPr lang="en-US" sz="1100" baseline="-40000" dirty="0">
                <a:solidFill>
                  <a:schemeClr val="tx1"/>
                </a:solidFill>
              </a:rPr>
              <a:t>i</a:t>
            </a:r>
            <a:r>
              <a:rPr lang="en-US" sz="1100" dirty="0">
                <a:solidFill>
                  <a:schemeClr val="tx1"/>
                </a:solidFill>
              </a:rPr>
              <a:t> + v</a:t>
            </a:r>
            <a:r>
              <a:rPr lang="en-US" sz="1100" baseline="-40000" dirty="0">
                <a:solidFill>
                  <a:schemeClr val="tx1"/>
                </a:solidFill>
              </a:rPr>
              <a:t>j</a:t>
            </a:r>
            <a:r>
              <a:rPr lang="en-US" sz="1100" dirty="0">
                <a:solidFill>
                  <a:schemeClr val="tx1"/>
                </a:solidFill>
              </a:rPr>
              <a:t> = c</a:t>
            </a:r>
            <a:r>
              <a:rPr lang="en-US" sz="1100" baseline="-40000" dirty="0">
                <a:solidFill>
                  <a:schemeClr val="tx1"/>
                </a:solidFill>
              </a:rPr>
              <a:t>ij</a:t>
            </a:r>
            <a:endParaRPr lang="en-US" sz="1100" dirty="0"/>
          </a:p>
        </p:txBody>
      </p:sp>
      <p:sp>
        <p:nvSpPr>
          <p:cNvPr id="6" name="flow-proc"/>
          <p:cNvSpPr/>
          <p:nvPr/>
        </p:nvSpPr>
        <p:spPr>
          <a:xfrm>
            <a:off x="6675120" y="1499616"/>
            <a:ext cx="2011680" cy="566928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Оценки свободных клеток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Δ</a:t>
            </a:r>
            <a:r>
              <a:rPr lang="en-US" sz="1100" baseline="-40000" dirty="0">
                <a:solidFill>
                  <a:schemeClr val="tx1"/>
                </a:solidFill>
              </a:rPr>
              <a:t>ij</a:t>
            </a:r>
            <a:r>
              <a:rPr lang="en-US" sz="1100" dirty="0">
                <a:solidFill>
                  <a:schemeClr val="tx1"/>
                </a:solidFill>
              </a:rPr>
              <a:t> = c</a:t>
            </a:r>
            <a:r>
              <a:rPr lang="en-US" sz="1100" baseline="-40000" dirty="0">
                <a:solidFill>
                  <a:schemeClr val="tx1"/>
                </a:solidFill>
              </a:rPr>
              <a:t>ij</a:t>
            </a:r>
            <a:r>
              <a:rPr lang="en-US" sz="1100" dirty="0">
                <a:solidFill>
                  <a:schemeClr val="tx1"/>
                </a:solidFill>
              </a:rPr>
              <a:t> − (u</a:t>
            </a:r>
            <a:r>
              <a:rPr lang="en-US" sz="1100" baseline="-40000" dirty="0">
                <a:solidFill>
                  <a:schemeClr val="tx1"/>
                </a:solidFill>
              </a:rPr>
              <a:t>i</a:t>
            </a:r>
            <a:r>
              <a:rPr lang="en-US" sz="1100" dirty="0">
                <a:solidFill>
                  <a:schemeClr val="tx1"/>
                </a:solidFill>
              </a:rPr>
              <a:t> + v</a:t>
            </a:r>
            <a:r>
              <a:rPr lang="en-US" sz="1100" baseline="-40000" dirty="0">
                <a:solidFill>
                  <a:schemeClr val="tx1"/>
                </a:solidFill>
              </a:rPr>
              <a:t>j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  <a:endParaRPr lang="en-US" sz="1100" dirty="0"/>
          </a:p>
        </p:txBody>
      </p:sp>
      <p:sp>
        <p:nvSpPr>
          <p:cNvPr id="7" name="flow-dec"/>
          <p:cNvSpPr/>
          <p:nvPr/>
        </p:nvSpPr>
        <p:spPr>
          <a:xfrm>
            <a:off x="6766560" y="2514600"/>
            <a:ext cx="1828800" cy="914400"/>
          </a:xfrm>
          <a:prstGeom prst="flowChartDecision">
            <a:avLst/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Все Δ</a:t>
            </a:r>
            <a:r>
              <a:rPr lang="en-US" sz="1200" b="1" baseline="-40000" dirty="0">
                <a:solidFill>
                  <a:schemeClr val="tx2"/>
                </a:solidFill>
              </a:rPr>
              <a:t>ij</a:t>
            </a:r>
            <a:r>
              <a:rPr lang="en-US" sz="1200" b="1" dirty="0">
                <a:solidFill>
                  <a:schemeClr val="tx2"/>
                </a:solidFill>
              </a:rPr>
              <a:t> ≥ 0?</a:t>
            </a:r>
            <a:endParaRPr lang="en-US" sz="1200" dirty="0"/>
          </a:p>
        </p:txBody>
      </p:sp>
      <p:sp>
        <p:nvSpPr>
          <p:cNvPr id="8" name="flow-term"/>
          <p:cNvSpPr/>
          <p:nvPr/>
        </p:nvSpPr>
        <p:spPr>
          <a:xfrm>
            <a:off x="6766560" y="3904488"/>
            <a:ext cx="1828800" cy="530352"/>
          </a:xfrm>
          <a:prstGeom prst="flowChartTerminator">
            <a:avLst/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Оптимальный план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в supply_volumes</a:t>
            </a:r>
            <a:endParaRPr lang="en-US" sz="1100" dirty="0"/>
          </a:p>
        </p:txBody>
      </p:sp>
      <p:sp>
        <p:nvSpPr>
          <p:cNvPr id="9" name="flow-proc"/>
          <p:cNvSpPr/>
          <p:nvPr/>
        </p:nvSpPr>
        <p:spPr>
          <a:xfrm>
            <a:off x="4389120" y="2688336"/>
            <a:ext cx="1874520" cy="566928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Входящая клетка: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наименьшая Δ</a:t>
            </a:r>
            <a:r>
              <a:rPr lang="en-US" sz="1100" baseline="-40000" dirty="0">
                <a:solidFill>
                  <a:schemeClr val="tx1"/>
                </a:solidFill>
              </a:rPr>
              <a:t>ij</a:t>
            </a:r>
            <a:r>
              <a:rPr lang="en-US" sz="1100" dirty="0">
                <a:solidFill>
                  <a:schemeClr val="tx1"/>
                </a:solidFill>
              </a:rPr>
              <a:t> &lt; 0</a:t>
            </a:r>
            <a:endParaRPr lang="en-US" sz="1100" dirty="0"/>
          </a:p>
        </p:txBody>
      </p:sp>
      <p:sp>
        <p:nvSpPr>
          <p:cNvPr id="10" name="flow-proc"/>
          <p:cNvSpPr/>
          <p:nvPr/>
        </p:nvSpPr>
        <p:spPr>
          <a:xfrm>
            <a:off x="2240280" y="2688336"/>
            <a:ext cx="1874520" cy="566928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Цикл пересчёта (BFS),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сдвиг θ, смена базиса</a:t>
            </a:r>
            <a:endParaRPr lang="en-US" sz="1100" dirty="0"/>
          </a:p>
        </p:txBody>
      </p:sp>
      <p:sp>
        <p:nvSpPr>
          <p:cNvPr id="11" name="flow-arrow"/>
          <p:cNvSpPr/>
          <p:nvPr/>
        </p:nvSpPr>
        <p:spPr>
          <a:xfrm>
            <a:off x="1965960" y="178308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flow-arrow"/>
          <p:cNvSpPr/>
          <p:nvPr/>
        </p:nvSpPr>
        <p:spPr>
          <a:xfrm>
            <a:off x="4114800" y="178308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flow-arrow"/>
          <p:cNvSpPr/>
          <p:nvPr/>
        </p:nvSpPr>
        <p:spPr>
          <a:xfrm>
            <a:off x="6263640" y="1783080"/>
            <a:ext cx="4114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flow-arrow"/>
          <p:cNvSpPr/>
          <p:nvPr/>
        </p:nvSpPr>
        <p:spPr>
          <a:xfrm>
            <a:off x="7680960" y="2066544"/>
            <a:ext cx="0" cy="44805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flow-arrow"/>
          <p:cNvSpPr/>
          <p:nvPr/>
        </p:nvSpPr>
        <p:spPr>
          <a:xfrm>
            <a:off x="7680960" y="3429000"/>
            <a:ext cx="0" cy="47548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726680" y="35478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да</a:t>
            </a:r>
            <a:endParaRPr lang="en-US" sz="1100" dirty="0"/>
          </a:p>
        </p:txBody>
      </p:sp>
      <p:sp>
        <p:nvSpPr>
          <p:cNvPr id="17" name="flow-arrow"/>
          <p:cNvSpPr/>
          <p:nvPr/>
        </p:nvSpPr>
        <p:spPr>
          <a:xfrm flipH="1">
            <a:off x="6263640" y="2971800"/>
            <a:ext cx="5029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309360" y="27157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нет</a:t>
            </a:r>
            <a:endParaRPr lang="en-US" sz="1100" dirty="0"/>
          </a:p>
        </p:txBody>
      </p:sp>
      <p:sp>
        <p:nvSpPr>
          <p:cNvPr id="19" name="flow-arrow"/>
          <p:cNvSpPr/>
          <p:nvPr/>
        </p:nvSpPr>
        <p:spPr>
          <a:xfrm flipH="1">
            <a:off x="4114800" y="297180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flow-arrow"/>
          <p:cNvSpPr/>
          <p:nvPr/>
        </p:nvSpPr>
        <p:spPr>
          <a:xfrm flipV="1">
            <a:off x="3177540" y="2377440"/>
            <a:ext cx="0" cy="31089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1" name="flow-arrow"/>
          <p:cNvSpPr/>
          <p:nvPr/>
        </p:nvSpPr>
        <p:spPr>
          <a:xfrm>
            <a:off x="3177540" y="2377440"/>
            <a:ext cx="21488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2" name="flow-arrow"/>
          <p:cNvSpPr/>
          <p:nvPr/>
        </p:nvSpPr>
        <p:spPr>
          <a:xfrm flipV="1">
            <a:off x="5326380" y="2066544"/>
            <a:ext cx="0" cy="31089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291840" y="23957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4"/>
                </a:solidFill>
              </a:rPr>
              <a:t>следующая итерация</a:t>
            </a:r>
            <a:endParaRPr lang="en-US" sz="1050" dirty="0"/>
          </a:p>
        </p:txBody>
      </p:sp>
      <p:sp>
        <p:nvSpPr>
          <p:cNvPr id="24" name="card"/>
          <p:cNvSpPr/>
          <p:nvPr/>
        </p:nvSpPr>
        <p:spPr>
          <a:xfrm>
            <a:off x="457200" y="3749040"/>
            <a:ext cx="5806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749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Вырожденная итерация (θ = 0) </a:t>
            </a:r>
            <a:r>
              <a:rPr lang="en-US" sz="1250" dirty="0">
                <a:solidFill>
                  <a:schemeClr val="tx1"/>
                </a:solidFill>
              </a:rPr>
              <a:t>→ правило Бленда, чтобы метод не зациклился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accent4"/>
                </a:solidFill>
              </a:rPr>
              <a:t>Страховка: не более 100 · (m · n + 1) итераций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Начальный план: метод минимального элемента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46304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badge-1"/>
          <p:cNvSpPr/>
          <p:nvPr/>
        </p:nvSpPr>
        <p:spPr>
          <a:xfrm>
            <a:off x="640080" y="16276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8483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Найти свободную клетку с наименьшим тарифом</a:t>
            </a:r>
            <a:endParaRPr lang="en-US" sz="1400" dirty="0"/>
          </a:p>
        </p:txBody>
      </p:sp>
      <p:sp>
        <p:nvSpPr>
          <p:cNvPr id="6" name="step-arrow"/>
          <p:cNvSpPr/>
          <p:nvPr/>
        </p:nvSpPr>
        <p:spPr>
          <a:xfrm>
            <a:off x="2313432" y="2258568"/>
            <a:ext cx="21945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card"/>
          <p:cNvSpPr/>
          <p:nvPr/>
        </p:nvSpPr>
        <p:spPr>
          <a:xfrm>
            <a:off x="2560320" y="146304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8" name="badge-2"/>
          <p:cNvSpPr/>
          <p:nvPr/>
        </p:nvSpPr>
        <p:spPr>
          <a:xfrm>
            <a:off x="2743200" y="16276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08483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Записать в неё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x</a:t>
            </a:r>
            <a:r>
              <a:rPr lang="en-US" sz="1400" baseline="-40000" dirty="0">
                <a:solidFill>
                  <a:schemeClr val="tx1"/>
                </a:solidFill>
              </a:rPr>
              <a:t>ij</a:t>
            </a:r>
            <a:r>
              <a:rPr lang="en-US" sz="1400" dirty="0">
                <a:solidFill>
                  <a:schemeClr val="tx1"/>
                </a:solidFill>
              </a:rPr>
              <a:t> = min(a</a:t>
            </a:r>
            <a:r>
              <a:rPr lang="en-US" sz="1400" baseline="-40000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, b</a:t>
            </a:r>
            <a:r>
              <a:rPr lang="en-US" sz="1400" baseline="-40000" dirty="0">
                <a:solidFill>
                  <a:schemeClr val="tx1"/>
                </a:solidFill>
              </a:rPr>
              <a:t>j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10" name="step-arrow"/>
          <p:cNvSpPr/>
          <p:nvPr/>
        </p:nvSpPr>
        <p:spPr>
          <a:xfrm>
            <a:off x="4416552" y="2258568"/>
            <a:ext cx="21945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4663440" y="146304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2" name="badge-3"/>
          <p:cNvSpPr/>
          <p:nvPr/>
        </p:nvSpPr>
        <p:spPr>
          <a:xfrm>
            <a:off x="4846320" y="16276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8483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Уменьшить остатки запаса и потребности</a:t>
            </a:r>
            <a:endParaRPr lang="en-US" sz="1400" dirty="0"/>
          </a:p>
        </p:txBody>
      </p:sp>
      <p:sp>
        <p:nvSpPr>
          <p:cNvPr id="14" name="step-arrow"/>
          <p:cNvSpPr/>
          <p:nvPr/>
        </p:nvSpPr>
        <p:spPr>
          <a:xfrm>
            <a:off x="6519672" y="2258568"/>
            <a:ext cx="21945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card"/>
          <p:cNvSpPr/>
          <p:nvPr/>
        </p:nvSpPr>
        <p:spPr>
          <a:xfrm>
            <a:off x="6766560" y="146304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6" name="badge-4"/>
          <p:cNvSpPr/>
          <p:nvPr/>
        </p:nvSpPr>
        <p:spPr>
          <a:xfrm>
            <a:off x="6949440" y="16276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08483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Повторять, пока всё не распределено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3383280"/>
            <a:ext cx="8138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9" name="result-dot"/>
          <p:cNvSpPr/>
          <p:nvPr/>
        </p:nvSpPr>
        <p:spPr>
          <a:xfrm>
            <a:off x="685800" y="371246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4747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Результат: </a:t>
            </a:r>
            <a:r>
              <a:rPr lang="en-US" sz="1400" dirty="0">
                <a:solidFill>
                  <a:schemeClr val="tx1"/>
                </a:solidFill>
              </a:rPr>
              <a:t>допустимый план — ограничения задачи выполнены, но оптимальность не гарантирована. Дальше его улучшает метод потенциалов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Базисные клетки и потенциалы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417320"/>
            <a:ext cx="365760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Для каждой базисной клетки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</a:rPr>
              <a:t>u</a:t>
            </a:r>
            <a:r>
              <a:rPr lang="en-US" sz="3600" b="1" baseline="-40000" dirty="0">
                <a:solidFill>
                  <a:schemeClr val="tx2"/>
                </a:solidFill>
              </a:rPr>
              <a:t>i</a:t>
            </a:r>
            <a:r>
              <a:rPr lang="en-US" sz="3600" b="1" dirty="0">
                <a:solidFill>
                  <a:schemeClr val="tx2"/>
                </a:solidFill>
              </a:rPr>
              <a:t> + v</a:t>
            </a:r>
            <a:r>
              <a:rPr lang="en-US" sz="3600" b="1" baseline="-40000" dirty="0">
                <a:solidFill>
                  <a:schemeClr val="tx2"/>
                </a:solidFill>
              </a:rPr>
              <a:t>j</a:t>
            </a:r>
            <a:r>
              <a:rPr lang="en-US" sz="3600" b="1" dirty="0">
                <a:solidFill>
                  <a:schemeClr val="tx2"/>
                </a:solidFill>
              </a:rPr>
              <a:t> = c</a:t>
            </a:r>
            <a:r>
              <a:rPr lang="en-US" sz="3600" b="1" baseline="-40000" dirty="0">
                <a:solidFill>
                  <a:schemeClr val="tx2"/>
                </a:solidFill>
              </a:rPr>
              <a:t>ij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</a:t>
            </a:r>
            <a:r>
              <a:rPr lang="en-US" sz="1400" baseline="-40000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— потенциал поставщика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</a:t>
            </a:r>
            <a:r>
              <a:rPr lang="en-US" sz="1400" baseline="-40000" dirty="0">
                <a:solidFill>
                  <a:schemeClr val="tx1"/>
                </a:solidFill>
              </a:rPr>
              <a:t>j</a:t>
            </a:r>
            <a:r>
              <a:rPr lang="en-US" sz="1400" dirty="0">
                <a:solidFill>
                  <a:schemeClr val="tx1"/>
                </a:solidFill>
              </a:rPr>
              <a:t> — потенциал потребителя</a:t>
            </a:r>
            <a:endParaRPr lang="en-US" sz="1400" dirty="0"/>
          </a:p>
        </p:txBody>
      </p:sp>
      <p:sp>
        <p:nvSpPr>
          <p:cNvPr id="7" name="badge-1"/>
          <p:cNvSpPr/>
          <p:nvPr/>
        </p:nvSpPr>
        <p:spPr>
          <a:xfrm>
            <a:off x="4480560" y="1508760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Невырожденный базис — m + n − 1 клеток</a:t>
            </a:r>
            <a:endParaRPr lang="en-US" sz="1400" dirty="0"/>
          </a:p>
        </p:txBody>
      </p:sp>
      <p:sp>
        <p:nvSpPr>
          <p:cNvPr id="9" name="badge-2"/>
          <p:cNvSpPr/>
          <p:nvPr/>
        </p:nvSpPr>
        <p:spPr>
          <a:xfrm>
            <a:off x="4480560" y="2276856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311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При вырождении часть базисных клеток имеет нулевой объём</a:t>
            </a:r>
            <a:endParaRPr lang="en-US" sz="1400" dirty="0"/>
          </a:p>
        </p:txBody>
      </p:sp>
      <p:sp>
        <p:nvSpPr>
          <p:cNvPr id="11" name="badge-3"/>
          <p:cNvSpPr/>
          <p:nvPr/>
        </p:nvSpPr>
        <p:spPr>
          <a:xfrm>
            <a:off x="4480560" y="3044952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9992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Одна неизвестная задаётся произвольно: u</a:t>
            </a:r>
            <a:r>
              <a:rPr lang="en-US" sz="1400" baseline="-40000" dirty="0">
                <a:solidFill>
                  <a:schemeClr val="tx1"/>
                </a:solidFill>
              </a:rPr>
              <a:t>1</a:t>
            </a:r>
            <a:r>
              <a:rPr lang="en-US" sz="1400" dirty="0">
                <a:solidFill>
                  <a:schemeClr val="tx1"/>
                </a:solidFill>
              </a:rPr>
              <a:t> = 0, остальные находятся обходом базиса</a:t>
            </a:r>
            <a:endParaRPr lang="en-US" sz="1400" dirty="0"/>
          </a:p>
        </p:txBody>
      </p:sp>
      <p:sp>
        <p:nvSpPr>
          <p:cNvPr id="13" name="badge-4"/>
          <p:cNvSpPr/>
          <p:nvPr/>
        </p:nvSpPr>
        <p:spPr>
          <a:xfrm>
            <a:off x="4480560" y="3813048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7673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Потенциалы нужны, чтобы оценить, можно ли улучшить план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Проверка оптимальности и выбор входящей клетки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82296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</a:rPr>
              <a:t>Δ</a:t>
            </a:r>
            <a:r>
              <a:rPr lang="en-US" sz="3200" b="1" baseline="-40000" dirty="0">
                <a:solidFill>
                  <a:schemeClr val="tx2"/>
                </a:solidFill>
              </a:rPr>
              <a:t>ij</a:t>
            </a:r>
            <a:r>
              <a:rPr lang="en-US" sz="3200" b="1" dirty="0">
                <a:solidFill>
                  <a:schemeClr val="tx2"/>
                </a:solidFill>
              </a:rPr>
              <a:t> = c</a:t>
            </a:r>
            <a:r>
              <a:rPr lang="en-US" sz="3200" b="1" baseline="-40000" dirty="0">
                <a:solidFill>
                  <a:schemeClr val="tx2"/>
                </a:solidFill>
              </a:rPr>
              <a:t>ij</a:t>
            </a:r>
            <a:r>
              <a:rPr lang="en-US" sz="3200" b="1" dirty="0">
                <a:solidFill>
                  <a:schemeClr val="tx2"/>
                </a:solidFill>
              </a:rPr>
              <a:t> − (u</a:t>
            </a:r>
            <a:r>
              <a:rPr lang="en-US" sz="3200" b="1" baseline="-40000" dirty="0">
                <a:solidFill>
                  <a:schemeClr val="tx2"/>
                </a:solidFill>
              </a:rPr>
              <a:t>i</a:t>
            </a:r>
            <a:r>
              <a:rPr lang="en-US" sz="3200" b="1" dirty="0">
                <a:solidFill>
                  <a:schemeClr val="tx2"/>
                </a:solidFill>
              </a:rPr>
              <a:t> + v</a:t>
            </a:r>
            <a:r>
              <a:rPr lang="en-US" sz="3200" b="1" baseline="-40000" dirty="0">
                <a:solidFill>
                  <a:schemeClr val="tx2"/>
                </a:solidFill>
              </a:rPr>
              <a:t>j</a:t>
            </a:r>
            <a:r>
              <a:rPr lang="en-US" sz="3200" b="1" dirty="0">
                <a:solidFill>
                  <a:schemeClr val="tx2"/>
                </a:solidFill>
              </a:rPr>
              <a:t>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76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4"/>
                </a:solidFill>
              </a:rPr>
              <a:t>оценка каждой свободной клетки</a:t>
            </a:r>
            <a:endParaRPr lang="en-US" sz="1200" dirty="0"/>
          </a:p>
        </p:txBody>
      </p:sp>
      <p:sp>
        <p:nvSpPr>
          <p:cNvPr id="6" name="outcome"/>
          <p:cNvSpPr/>
          <p:nvPr/>
        </p:nvSpPr>
        <p:spPr>
          <a:xfrm>
            <a:off x="457200" y="28346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Все Δ ≥ 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015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Текущий план оптимален — алгоритм завершается</a:t>
            </a:r>
            <a:endParaRPr lang="en-US" sz="1400" dirty="0"/>
          </a:p>
        </p:txBody>
      </p:sp>
      <p:sp>
        <p:nvSpPr>
          <p:cNvPr id="9" name="outcome"/>
          <p:cNvSpPr/>
          <p:nvPr/>
        </p:nvSpPr>
        <p:spPr>
          <a:xfrm>
            <a:off x="4663440" y="28346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Есть Δ &lt; 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4015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Стоимость можно уменьшить: клетка с наименьшей оценкой входит в базис, строится цикл перераспределения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Цикл пересчёта: поиск через граф</a:t>
            </a:r>
            <a:endParaRPr lang="en-US" sz="2600" dirty="0"/>
          </a:p>
        </p:txBody>
      </p:sp>
      <p:sp>
        <p:nvSpPr>
          <p:cNvPr id="3" name="badge-1"/>
          <p:cNvSpPr/>
          <p:nvPr/>
        </p:nvSpPr>
        <p:spPr>
          <a:xfrm>
            <a:off x="457200" y="142646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371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Вершины графа — строки и столбцы таблицы</a:t>
            </a:r>
            <a:endParaRPr lang="en-US" sz="1400" dirty="0"/>
          </a:p>
        </p:txBody>
      </p:sp>
      <p:sp>
        <p:nvSpPr>
          <p:cNvPr id="5" name="badge-2"/>
          <p:cNvSpPr/>
          <p:nvPr/>
        </p:nvSpPr>
        <p:spPr>
          <a:xfrm>
            <a:off x="457200" y="19933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38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Ребро — базисная клетка между своей строкой и столбцом</a:t>
            </a:r>
            <a:endParaRPr lang="en-US" sz="1400" dirty="0"/>
          </a:p>
        </p:txBody>
      </p:sp>
      <p:sp>
        <p:nvSpPr>
          <p:cNvPr id="7" name="badge-3"/>
          <p:cNvSpPr/>
          <p:nvPr/>
        </p:nvSpPr>
        <p:spPr>
          <a:xfrm>
            <a:off x="457200" y="25603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054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Поиск в ширину (BFS) находит путь от столбца входящей клетки к её строке</a:t>
            </a:r>
            <a:endParaRPr lang="en-US" sz="1400" dirty="0"/>
          </a:p>
        </p:txBody>
      </p:sp>
      <p:sp>
        <p:nvSpPr>
          <p:cNvPr id="9" name="badge-4"/>
          <p:cNvSpPr/>
          <p:nvPr/>
        </p:nvSpPr>
        <p:spPr>
          <a:xfrm>
            <a:off x="457200" y="312724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723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Путь вместе с входящей клеткой образует замкнутый цикл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3730752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373075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Почему цикл единственный: </a:t>
            </a:r>
            <a:r>
              <a:rPr lang="en-US" sz="1300" dirty="0">
                <a:solidFill>
                  <a:schemeClr val="tx1"/>
                </a:solidFill>
              </a:rPr>
              <a:t>базисные клетки образуют дерево, а между двумя вершинами дерева путь всего один</a:t>
            </a:r>
            <a:endParaRPr lang="en-US" sz="1300" dirty="0"/>
          </a:p>
        </p:txBody>
      </p:sp>
      <p:pic>
        <p:nvPicPr>
          <p:cNvPr id="13" name="graph" descr="C:\Users\olesy\AppData\Local\Temp\claude\D--transportissue\a0d77f38-161e-405f-9e3b-78798b24f18c\scratchpad\deck\media\s11_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325880"/>
            <a:ext cx="2971800" cy="1723884"/>
          </a:xfrm>
          <a:prstGeom prst="rect">
            <a:avLst/>
          </a:prstGeom>
        </p:spPr>
      </p:pic>
      <p:pic>
        <p:nvPicPr>
          <p:cNvPr id="14" name="cycle-table" descr="C:\Users\olesy\AppData\Local\Temp\claude\D--transportissue\a0d77f38-161e-405f-9e3b-78798b24f18c\scratchpad\deck\media\s11_1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154680"/>
            <a:ext cx="2971800" cy="15322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Алгоритм поиска цикла пересчёта</a:t>
            </a:r>
            <a:endParaRPr lang="en-US" sz="2600" dirty="0"/>
          </a:p>
        </p:txBody>
      </p:sp>
      <p:sp>
        <p:nvSpPr>
          <p:cNvPr id="3" name="flow-term"/>
          <p:cNvSpPr/>
          <p:nvPr/>
        </p:nvSpPr>
        <p:spPr>
          <a:xfrm>
            <a:off x="457200" y="1463040"/>
            <a:ext cx="1691640" cy="640080"/>
          </a:xfrm>
          <a:prstGeom prst="flowChartTerminator">
            <a:avLst/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Входящая клетка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(i</a:t>
            </a:r>
            <a:r>
              <a:rPr lang="en-US" sz="1100" b="1" baseline="-40000" dirty="0">
                <a:solidFill>
                  <a:schemeClr val="bg1"/>
                </a:solidFill>
              </a:rPr>
              <a:t>0</a:t>
            </a:r>
            <a:r>
              <a:rPr lang="en-US" sz="1100" b="1" dirty="0">
                <a:solidFill>
                  <a:schemeClr val="bg1"/>
                </a:solidFill>
              </a:rPr>
              <a:t>, j</a:t>
            </a:r>
            <a:r>
              <a:rPr lang="en-US" sz="1100" b="1" baseline="-40000" dirty="0">
                <a:solidFill>
                  <a:schemeClr val="bg1"/>
                </a:solidFill>
              </a:rPr>
              <a:t>0</a:t>
            </a:r>
            <a:r>
              <a:rPr lang="en-US" sz="1100" b="1" dirty="0">
                <a:solidFill>
                  <a:schemeClr val="bg1"/>
                </a:solidFill>
              </a:rPr>
              <a:t>)</a:t>
            </a:r>
            <a:endParaRPr lang="en-US" sz="1100" dirty="0"/>
          </a:p>
        </p:txBody>
      </p:sp>
      <p:sp>
        <p:nvSpPr>
          <p:cNvPr id="4" name="flow-proc"/>
          <p:cNvSpPr/>
          <p:nvPr/>
        </p:nvSpPr>
        <p:spPr>
          <a:xfrm>
            <a:off x="2423160" y="1463040"/>
            <a:ext cx="1828800" cy="640080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Граф базиса: строки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и столбцы — вершины,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клетки — рёбра</a:t>
            </a:r>
            <a:endParaRPr lang="en-US" sz="1050" dirty="0"/>
          </a:p>
        </p:txBody>
      </p:sp>
      <p:sp>
        <p:nvSpPr>
          <p:cNvPr id="5" name="flow-proc"/>
          <p:cNvSpPr/>
          <p:nvPr/>
        </p:nvSpPr>
        <p:spPr>
          <a:xfrm>
            <a:off x="4526280" y="1463040"/>
            <a:ext cx="1828800" cy="640080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Поиск в ширину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от столбца j</a:t>
            </a:r>
            <a:r>
              <a:rPr lang="en-US" sz="1100" baseline="-40000" dirty="0">
                <a:solidFill>
                  <a:schemeClr val="tx1"/>
                </a:solidFill>
              </a:rPr>
              <a:t>0</a:t>
            </a:r>
            <a:endParaRPr lang="en-US" sz="1100" dirty="0"/>
          </a:p>
        </p:txBody>
      </p:sp>
      <p:sp>
        <p:nvSpPr>
          <p:cNvPr id="6" name="flow-dec"/>
          <p:cNvSpPr/>
          <p:nvPr/>
        </p:nvSpPr>
        <p:spPr>
          <a:xfrm>
            <a:off x="4480560" y="2514600"/>
            <a:ext cx="1920240" cy="914400"/>
          </a:xfrm>
          <a:prstGeom prst="flowChartDecision">
            <a:avLst/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</a:rPr>
              <a:t>Строка i</a:t>
            </a:r>
            <a:r>
              <a:rPr lang="en-US" sz="1150" b="1" baseline="-40000" dirty="0">
                <a:solidFill>
                  <a:schemeClr val="tx2"/>
                </a:solidFill>
              </a:rPr>
              <a:t>0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chemeClr val="tx2"/>
                </a:solidFill>
              </a:rPr>
              <a:t>найдена?</a:t>
            </a:r>
            <a:endParaRPr lang="en-US" sz="1150" dirty="0"/>
          </a:p>
        </p:txBody>
      </p:sp>
      <p:sp>
        <p:nvSpPr>
          <p:cNvPr id="7" name="flow-proc"/>
          <p:cNvSpPr/>
          <p:nvPr/>
        </p:nvSpPr>
        <p:spPr>
          <a:xfrm>
            <a:off x="1737360" y="2651760"/>
            <a:ext cx="2286000" cy="640080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Взять вершину из очереди,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новых соседей — в очередь,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запомнить «родителя»</a:t>
            </a:r>
            <a:endParaRPr lang="en-US" sz="1050" dirty="0"/>
          </a:p>
        </p:txBody>
      </p:sp>
      <p:sp>
        <p:nvSpPr>
          <p:cNvPr id="8" name="flow-proc"/>
          <p:cNvSpPr/>
          <p:nvPr/>
        </p:nvSpPr>
        <p:spPr>
          <a:xfrm>
            <a:off x="6675120" y="2651760"/>
            <a:ext cx="2011680" cy="640080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Восстановить путь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по «родителям»: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i</a:t>
            </a:r>
            <a:r>
              <a:rPr lang="en-US" sz="1050" baseline="-40000" dirty="0">
                <a:solidFill>
                  <a:schemeClr val="tx1"/>
                </a:solidFill>
              </a:rPr>
              <a:t>0</a:t>
            </a:r>
            <a:r>
              <a:rPr lang="en-US" sz="1050" dirty="0">
                <a:solidFill>
                  <a:schemeClr val="tx1"/>
                </a:solidFill>
              </a:rPr>
              <a:t> → … → j</a:t>
            </a:r>
            <a:r>
              <a:rPr lang="en-US" sz="1050" baseline="-40000" dirty="0">
                <a:solidFill>
                  <a:schemeClr val="tx1"/>
                </a:solidFill>
              </a:rPr>
              <a:t>0</a:t>
            </a:r>
            <a:endParaRPr lang="en-US" sz="1050" dirty="0"/>
          </a:p>
        </p:txBody>
      </p:sp>
      <p:sp>
        <p:nvSpPr>
          <p:cNvPr id="9" name="flow-term"/>
          <p:cNvSpPr/>
          <p:nvPr/>
        </p:nvSpPr>
        <p:spPr>
          <a:xfrm>
            <a:off x="6675120" y="3840480"/>
            <a:ext cx="2011680" cy="640080"/>
          </a:xfrm>
          <a:prstGeom prst="flowChartTerminator">
            <a:avLst/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Цикл пересчёта: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знаки + − + − …</a:t>
            </a:r>
            <a:endParaRPr lang="en-US" sz="1100" dirty="0"/>
          </a:p>
        </p:txBody>
      </p:sp>
      <p:sp>
        <p:nvSpPr>
          <p:cNvPr id="10" name="flow-arrow"/>
          <p:cNvSpPr/>
          <p:nvPr/>
        </p:nvSpPr>
        <p:spPr>
          <a:xfrm>
            <a:off x="2148840" y="178308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flow-arrow"/>
          <p:cNvSpPr/>
          <p:nvPr/>
        </p:nvSpPr>
        <p:spPr>
          <a:xfrm>
            <a:off x="4251960" y="178308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flow-arrow"/>
          <p:cNvSpPr/>
          <p:nvPr/>
        </p:nvSpPr>
        <p:spPr>
          <a:xfrm>
            <a:off x="5440680" y="2103120"/>
            <a:ext cx="0" cy="4114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flow-arrow"/>
          <p:cNvSpPr/>
          <p:nvPr/>
        </p:nvSpPr>
        <p:spPr>
          <a:xfrm flipH="1">
            <a:off x="4023360" y="297180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050792" y="27066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нет</a:t>
            </a:r>
            <a:endParaRPr lang="en-US" sz="1100" dirty="0"/>
          </a:p>
        </p:txBody>
      </p:sp>
      <p:sp>
        <p:nvSpPr>
          <p:cNvPr id="15" name="flow-arrow"/>
          <p:cNvSpPr/>
          <p:nvPr/>
        </p:nvSpPr>
        <p:spPr>
          <a:xfrm flipV="1">
            <a:off x="2880360" y="2304288"/>
            <a:ext cx="0" cy="34747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6" name="flow-arrow"/>
          <p:cNvSpPr/>
          <p:nvPr/>
        </p:nvSpPr>
        <p:spPr>
          <a:xfrm>
            <a:off x="2880360" y="2304288"/>
            <a:ext cx="2542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971800" y="23408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следующая вершина</a:t>
            </a:r>
            <a:endParaRPr lang="en-US" sz="1000" dirty="0"/>
          </a:p>
        </p:txBody>
      </p:sp>
      <p:sp>
        <p:nvSpPr>
          <p:cNvPr id="18" name="flow-arrow"/>
          <p:cNvSpPr/>
          <p:nvPr/>
        </p:nvSpPr>
        <p:spPr>
          <a:xfrm>
            <a:off x="6400800" y="297180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336792" y="27066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да</a:t>
            </a:r>
            <a:endParaRPr lang="en-US" sz="1100" dirty="0"/>
          </a:p>
        </p:txBody>
      </p:sp>
      <p:sp>
        <p:nvSpPr>
          <p:cNvPr id="20" name="flow-arrow"/>
          <p:cNvSpPr/>
          <p:nvPr/>
        </p:nvSpPr>
        <p:spPr>
          <a:xfrm>
            <a:off x="7680960" y="3291840"/>
            <a:ext cx="0" cy="548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card"/>
          <p:cNvSpPr/>
          <p:nvPr/>
        </p:nvSpPr>
        <p:spPr>
          <a:xfrm>
            <a:off x="457200" y="3703320"/>
            <a:ext cx="5943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70332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Путь находится всегда и он единственный: </a:t>
            </a:r>
            <a:r>
              <a:rPr lang="en-US" sz="1200" dirty="0">
                <a:solidFill>
                  <a:schemeClr val="tx1"/>
                </a:solidFill>
              </a:rPr>
              <a:t>базис — связное дерево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Вершины пути чередуются (строка, столбец, …) — отсюда чередование знаков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Перераспределение перевозок по циклу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32918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</a:rPr>
              <a:t>θ = min x</a:t>
            </a:r>
            <a:r>
              <a:rPr lang="en-US" sz="3200" b="1" baseline="-40000" dirty="0">
                <a:solidFill>
                  <a:schemeClr val="tx2"/>
                </a:solidFill>
              </a:rPr>
              <a:t>ij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по клеткам (i, j) ∈ C</a:t>
            </a:r>
            <a:r>
              <a:rPr lang="en-US" sz="1400" baseline="30000" dirty="0">
                <a:solidFill>
                  <a:schemeClr val="tx2"/>
                </a:solidFill>
              </a:rPr>
              <a:t>−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</a:t>
            </a:r>
            <a:r>
              <a:rPr lang="en-US" sz="1200" i="1" baseline="30000" dirty="0">
                <a:solidFill>
                  <a:schemeClr val="accent4"/>
                </a:solidFill>
              </a:rPr>
              <a:t>−</a:t>
            </a:r>
            <a:r>
              <a:rPr lang="en-US" sz="1200" i="1" dirty="0">
                <a:solidFill>
                  <a:schemeClr val="accent4"/>
                </a:solidFill>
              </a:rPr>
              <a:t> — клетки цикла со знаком «−»</a:t>
            </a:r>
            <a:endParaRPr lang="en-US" sz="1200" dirty="0"/>
          </a:p>
        </p:txBody>
      </p:sp>
      <p:sp>
        <p:nvSpPr>
          <p:cNvPr id="7" name="badge-±"/>
          <p:cNvSpPr/>
          <p:nvPr/>
        </p:nvSpPr>
        <p:spPr>
          <a:xfrm>
            <a:off x="4069080" y="1417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3716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Знаки в цикле чередуются: «+» во входящей клетке, затем «−», «+», …</a:t>
            </a:r>
            <a:endParaRPr lang="en-US" sz="1350" dirty="0"/>
          </a:p>
        </p:txBody>
      </p:sp>
      <p:sp>
        <p:nvSpPr>
          <p:cNvPr id="9" name="badge-θ"/>
          <p:cNvSpPr/>
          <p:nvPr/>
        </p:nvSpPr>
        <p:spPr>
          <a:xfrm>
            <a:off x="4069080" y="192938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θ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88366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К клеткам «+» прибавляется θ, из клеток «−» вычитается θ</a:t>
            </a:r>
            <a:endParaRPr lang="en-US" sz="1350" dirty="0"/>
          </a:p>
        </p:txBody>
      </p:sp>
      <p:sp>
        <p:nvSpPr>
          <p:cNvPr id="11" name="badge-↔"/>
          <p:cNvSpPr/>
          <p:nvPr/>
        </p:nvSpPr>
        <p:spPr>
          <a:xfrm>
            <a:off x="4069080" y="24414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↔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9572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Обнулившаяся клетка выходит из базиса, входящая — включается</a:t>
            </a:r>
            <a:endParaRPr lang="en-US" sz="1350" dirty="0"/>
          </a:p>
        </p:txBody>
      </p:sp>
      <p:sp>
        <p:nvSpPr>
          <p:cNvPr id="13" name="badge-="/>
          <p:cNvSpPr/>
          <p:nvPr/>
        </p:nvSpPr>
        <p:spPr>
          <a:xfrm>
            <a:off x="4069080" y="29535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=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90779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Суммы по строкам и столбцам сохраняются, стоимость снижается</a:t>
            </a:r>
            <a:endParaRPr lang="en-US" sz="1350" dirty="0"/>
          </a:p>
        </p:txBody>
      </p:sp>
      <p:sp>
        <p:nvSpPr>
          <p:cNvPr id="15" name="finish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Завершение: </a:t>
            </a:r>
            <a:r>
              <a:rPr lang="en-US" sz="1400" dirty="0">
                <a:solidFill>
                  <a:schemeClr val="tx1"/>
                </a:solidFill>
              </a:rPr>
              <a:t>после каждого сдвига заново считаются потенциалы и оценки. Итерации идут, пока все Δ</a:t>
            </a:r>
            <a:r>
              <a:rPr lang="en-US" sz="1400" baseline="-40000" dirty="0">
                <a:solidFill>
                  <a:schemeClr val="tx1"/>
                </a:solidFill>
              </a:rPr>
              <a:t>ij</a:t>
            </a:r>
            <a:r>
              <a:rPr lang="en-US" sz="1400" dirty="0">
                <a:solidFill>
                  <a:schemeClr val="tx1"/>
                </a:solidFill>
              </a:rPr>
              <a:t> ≥ 0 — на выходе оптимальный план, минимальная стоимость и объёмы поставок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От файла Excel — к проверенной модели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61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Пункт 5 ТЗ: </a:t>
            </a: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DataLoader.load_data(path) → TransportTable</a:t>
            </a:r>
            <a:endParaRPr lang="en-US" sz="1300" dirty="0"/>
          </a:p>
        </p:txBody>
      </p:sp>
      <p:graphicFrame>
        <p:nvGraphicFramePr>
          <p:cNvPr id="18" name="sheet-layou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3840480" cy="2304288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chemeClr val="accent4"/>
                          </a:solidFill>
                        </a:rPr>
                        <a:t>запасы\потр.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2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2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2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2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legend-swatch"/>
          <p:cNvSpPr/>
          <p:nvPr/>
        </p:nvSpPr>
        <p:spPr>
          <a:xfrm>
            <a:off x="457200" y="4224528"/>
            <a:ext cx="201168" cy="201168"/>
          </a:xfrm>
          <a:prstGeom prst="rect">
            <a:avLst/>
          </a:prstGeom>
          <a:solidFill>
            <a:schemeClr val="accent1">
              <a:alpha val="30000"/>
            </a:scheme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187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наименования</a:t>
            </a:r>
            <a:endParaRPr lang="en-US" sz="1100" dirty="0"/>
          </a:p>
        </p:txBody>
      </p:sp>
      <p:sp>
        <p:nvSpPr>
          <p:cNvPr id="7" name="legend-swatch"/>
          <p:cNvSpPr/>
          <p:nvPr/>
        </p:nvSpPr>
        <p:spPr>
          <a:xfrm>
            <a:off x="1783080" y="4224528"/>
            <a:ext cx="201168" cy="201168"/>
          </a:xfrm>
          <a:prstGeom prst="rect">
            <a:avLst/>
          </a:prstGeom>
          <a:solidFill>
            <a:schemeClr val="accent2">
              <a:alpha val="22000"/>
            </a:schemeClr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057400" y="4187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запасы и потребление</a:t>
            </a:r>
            <a:endParaRPr lang="en-US" sz="1100" dirty="0"/>
          </a:p>
        </p:txBody>
      </p:sp>
      <p:sp>
        <p:nvSpPr>
          <p:cNvPr id="9" name="legend-swatch"/>
          <p:cNvSpPr/>
          <p:nvPr/>
        </p:nvSpPr>
        <p:spPr>
          <a:xfrm>
            <a:off x="3108960" y="4224528"/>
            <a:ext cx="201168" cy="201168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4187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тарифы</a:t>
            </a:r>
            <a:endParaRPr lang="en-US" sz="1100" dirty="0"/>
          </a:p>
        </p:txBody>
      </p:sp>
      <p:sp>
        <p:nvSpPr>
          <p:cNvPr id="11" name="badge-1"/>
          <p:cNvSpPr/>
          <p:nvPr/>
        </p:nvSpPr>
        <p:spPr>
          <a:xfrm>
            <a:off x="4663440" y="17647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17373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Читает условие </a:t>
            </a:r>
            <a:r>
              <a:rPr lang="en-US" sz="1300" dirty="0">
                <a:solidFill>
                  <a:schemeClr val="tx1"/>
                </a:solidFill>
              </a:rPr>
              <a:t>из .xlsx, проверяет каждую ячейку и отдаёт решателю проверенную модель</a:t>
            </a:r>
            <a:endParaRPr lang="en-US" sz="1300" dirty="0"/>
          </a:p>
        </p:txBody>
      </p:sp>
      <p:sp>
        <p:nvSpPr>
          <p:cNvPr id="13" name="badge-2"/>
          <p:cNvSpPr/>
          <p:nvPr/>
        </p:nvSpPr>
        <p:spPr>
          <a:xfrm>
            <a:off x="4663440" y="247802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24505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Раскладка шаблона ТЗ: </a:t>
            </a:r>
            <a:r>
              <a:rPr lang="en-US" sz="1300" dirty="0">
                <a:solidFill>
                  <a:schemeClr val="tx1"/>
                </a:solidFill>
              </a:rPr>
              <a:t>с C1 — потребители, строка 2 — потребление, столбцы A и B — поставщики и запасы, с C3 — тарифы</a:t>
            </a:r>
            <a:endParaRPr lang="en-US" sz="1300" dirty="0"/>
          </a:p>
        </p:txBody>
      </p:sp>
      <p:sp>
        <p:nvSpPr>
          <p:cNvPr id="15" name="badge-3"/>
          <p:cNvSpPr/>
          <p:nvPr/>
        </p:nvSpPr>
        <p:spPr>
          <a:xfrm>
            <a:off x="4663440" y="319125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120640" y="31638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Размер не задан в коде: </a:t>
            </a:r>
            <a:r>
              <a:rPr lang="en-US" sz="1300" dirty="0">
                <a:solidFill>
                  <a:schemeClr val="tx1"/>
                </a:solidFill>
              </a:rPr>
              <a:t>имена читаются до первой пустой ячейки — любое число участников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9319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Ошибка в данных не должна превратиться в «правильный ответ на неправильные данные»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Главная идея: все ошибки сразу</a:t>
            </a:r>
            <a:endParaRPr lang="en-US" sz="2600" dirty="0"/>
          </a:p>
        </p:txBody>
      </p:sp>
      <p:sp>
        <p:nvSpPr>
          <p:cNvPr id="3" name="badge-1"/>
          <p:cNvSpPr/>
          <p:nvPr/>
        </p:nvSpPr>
        <p:spPr>
          <a:xfrm>
            <a:off x="457200" y="136245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3258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Ошибка не прерывает проверку: </a:t>
            </a:r>
            <a:r>
              <a:rPr lang="en-US" sz="1250" dirty="0">
                <a:solidFill>
                  <a:schemeClr val="tx1"/>
                </a:solidFill>
              </a:rPr>
              <a:t>описание — в общий список, вместо плохого значения — 0</a:t>
            </a:r>
            <a:endParaRPr lang="en-US" sz="1250" dirty="0"/>
          </a:p>
        </p:txBody>
      </p:sp>
      <p:sp>
        <p:nvSpPr>
          <p:cNvPr id="5" name="badge-2"/>
          <p:cNvSpPr/>
          <p:nvPr/>
        </p:nvSpPr>
        <p:spPr>
          <a:xfrm>
            <a:off x="457200" y="200253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В конце одно исключение </a:t>
            </a:r>
            <a:r>
              <a:rPr lang="en-US" sz="1250" dirty="0">
                <a:solidFill>
                  <a:schemeClr val="tx1"/>
                </a:solidFill>
              </a:rPr>
              <a:t>со всеми ошибками; у каждой адрес ячейки и смысл</a:t>
            </a:r>
            <a:endParaRPr lang="en-US" sz="1250" dirty="0"/>
          </a:p>
        </p:txBody>
      </p:sp>
      <p:sp>
        <p:nvSpPr>
          <p:cNvPr id="7" name="badge-3"/>
          <p:cNvSpPr/>
          <p:nvPr/>
        </p:nvSpPr>
        <p:spPr>
          <a:xfrm>
            <a:off x="457200" y="264261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read_only + data_only: </a:t>
            </a:r>
            <a:r>
              <a:rPr lang="en-US" sz="1250" dirty="0">
                <a:solidFill>
                  <a:schemeClr val="tx1"/>
                </a:solidFill>
              </a:rPr>
              <a:t>потоковое чтение, для формул — вычисленные значения</a:t>
            </a:r>
            <a:endParaRPr lang="en-US" sz="1250" dirty="0"/>
          </a:p>
        </p:txBody>
      </p:sp>
      <p:sp>
        <p:nvSpPr>
          <p:cNvPr id="9" name="badge-4"/>
          <p:cNvSpPr/>
          <p:nvPr/>
        </p:nvSpPr>
        <p:spPr>
          <a:xfrm>
            <a:off x="457200" y="328269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461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Книга закрывается в finally: </a:t>
            </a:r>
            <a:r>
              <a:rPr lang="en-US" sz="1250" dirty="0">
                <a:solidFill>
                  <a:schemeClr val="tx1"/>
                </a:solidFill>
              </a:rPr>
              <a:t>файл не останется заблокированным</a:t>
            </a:r>
            <a:endParaRPr lang="en-US" sz="1250" dirty="0"/>
          </a:p>
        </p:txBody>
      </p:sp>
      <p:sp>
        <p:nvSpPr>
          <p:cNvPr id="11" name="badge-5"/>
          <p:cNvSpPr/>
          <p:nvPr/>
        </p:nvSpPr>
        <p:spPr>
          <a:xfrm>
            <a:off x="457200" y="39227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8620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Числа текстом </a:t>
            </a:r>
            <a:r>
              <a:rPr lang="en-US" sz="1250" dirty="0">
                <a:solidFill>
                  <a:schemeClr val="tx1"/>
                </a:solidFill>
              </a:rPr>
              <a:t>(«12,5», «1 200») тоже понимаются; лист выбирается параметром</a:t>
            </a:r>
            <a:endParaRPr lang="en-US" sz="1250" dirty="0"/>
          </a:p>
        </p:txBody>
      </p:sp>
      <p:sp>
        <p:nvSpPr>
          <p:cNvPr id="13" name="code"/>
          <p:cNvSpPr/>
          <p:nvPr/>
        </p:nvSpPr>
        <p:spPr>
          <a:xfrm>
            <a:off x="4297680" y="1325880"/>
            <a:ext cx="4389120" cy="2926080"/>
          </a:xfrm>
          <a:prstGeom prst="roundRect">
            <a:avLst>
              <a:gd name="adj" fmla="val 1875"/>
            </a:avLst>
          </a:prstGeom>
          <a:solidFill>
            <a:schemeClr val="tx2"/>
          </a:solidFill>
          <a:ln/>
        </p:spPr>
      </p:sp>
      <p:sp>
        <p:nvSpPr>
          <p:cNvPr id="14" name="code-text"/>
          <p:cNvSpPr txBox="1"/>
          <p:nvPr/>
        </p:nvSpPr>
        <p:spPr>
          <a:xfrm>
            <a:off x="4434840" y="1435608"/>
            <a:ext cx="411480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data/ошибки.xlsx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Ошибка: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Повторяющееся наименование потребителя: «B2» (×2)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A6: не указано наименование поставщика,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хотя в строке 6 есть данные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D2 (потребление B2): пустое значение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E3 (тариф A1 → B2): ожидалось число, получено 'abc'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B4 (запасы A2): значение должно быть неотрицательным,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получено -50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D4 (тариф A2 → B2): пустое значение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F5 (тариф A3 → B4): значение должно быть неотрицательным,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получено -1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315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7 проблем за один запуск, «-1», введённое текстом, тоже поймано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Загрузка и проверка файла</a:t>
            </a:r>
            <a:endParaRPr lang="en-US" sz="2600" dirty="0"/>
          </a:p>
        </p:txBody>
      </p:sp>
      <p:sp>
        <p:nvSpPr>
          <p:cNvPr id="3" name="flow-term"/>
          <p:cNvSpPr/>
          <p:nvPr/>
        </p:nvSpPr>
        <p:spPr>
          <a:xfrm>
            <a:off x="457200" y="1499616"/>
            <a:ext cx="1417320" cy="566928"/>
          </a:xfrm>
          <a:prstGeom prst="flowChartTerminator">
            <a:avLst/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Файл .xlsx</a:t>
            </a:r>
            <a:endParaRPr lang="en-US" sz="1100" dirty="0"/>
          </a:p>
        </p:txBody>
      </p:sp>
      <p:sp>
        <p:nvSpPr>
          <p:cNvPr id="4" name="flow-proc"/>
          <p:cNvSpPr/>
          <p:nvPr/>
        </p:nvSpPr>
        <p:spPr>
          <a:xfrm>
            <a:off x="2148840" y="1499616"/>
            <a:ext cx="1783080" cy="566928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Чтение листа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(openpyxl)</a:t>
            </a:r>
            <a:endParaRPr lang="en-US" sz="1100" dirty="0"/>
          </a:p>
        </p:txBody>
      </p:sp>
      <p:sp>
        <p:nvSpPr>
          <p:cNvPr id="5" name="flow-dec"/>
          <p:cNvSpPr/>
          <p:nvPr/>
        </p:nvSpPr>
        <p:spPr>
          <a:xfrm>
            <a:off x="4206240" y="1325880"/>
            <a:ext cx="1920240" cy="914400"/>
          </a:xfrm>
          <a:prstGeom prst="flowChartDecision">
            <a:avLst/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Имена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найдены?</a:t>
            </a:r>
            <a:endParaRPr lang="en-US" sz="1200" dirty="0"/>
          </a:p>
        </p:txBody>
      </p:sp>
      <p:sp>
        <p:nvSpPr>
          <p:cNvPr id="6" name="flow-proc"/>
          <p:cNvSpPr/>
          <p:nvPr/>
        </p:nvSpPr>
        <p:spPr>
          <a:xfrm>
            <a:off x="6400800" y="1499616"/>
            <a:ext cx="2286000" cy="566928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Проверка каждой ячейки: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ошибка → в список, значение → 0</a:t>
            </a:r>
            <a:endParaRPr lang="en-US" sz="1100" dirty="0"/>
          </a:p>
        </p:txBody>
      </p:sp>
      <p:sp>
        <p:nvSpPr>
          <p:cNvPr id="7" name="flow-dec"/>
          <p:cNvSpPr/>
          <p:nvPr/>
        </p:nvSpPr>
        <p:spPr>
          <a:xfrm>
            <a:off x="6629400" y="2606040"/>
            <a:ext cx="1828800" cy="914400"/>
          </a:xfrm>
          <a:prstGeom prst="flowChartDecision">
            <a:avLst/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Ошибок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нет?</a:t>
            </a:r>
            <a:endParaRPr lang="en-US" sz="1200" dirty="0"/>
          </a:p>
        </p:txBody>
      </p:sp>
      <p:sp>
        <p:nvSpPr>
          <p:cNvPr id="8" name="flow-err"/>
          <p:cNvSpPr/>
          <p:nvPr/>
        </p:nvSpPr>
        <p:spPr>
          <a:xfrm>
            <a:off x="4206240" y="2779776"/>
            <a:ext cx="1920240" cy="566928"/>
          </a:xfrm>
          <a:prstGeom prst="flowChartProcess">
            <a:avLst/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DataValidationError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со всеми ошибками</a:t>
            </a:r>
            <a:endParaRPr lang="en-US" sz="1100" dirty="0"/>
          </a:p>
        </p:txBody>
      </p:sp>
      <p:sp>
        <p:nvSpPr>
          <p:cNvPr id="9" name="flow-term"/>
          <p:cNvSpPr/>
          <p:nvPr/>
        </p:nvSpPr>
        <p:spPr>
          <a:xfrm>
            <a:off x="6629400" y="3959352"/>
            <a:ext cx="1828800" cy="530352"/>
          </a:xfrm>
          <a:prstGeom prst="flowChartTerminator">
            <a:avLst/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TransportTable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→ решатель</a:t>
            </a:r>
            <a:endParaRPr lang="en-US" sz="1100" dirty="0"/>
          </a:p>
        </p:txBody>
      </p:sp>
      <p:sp>
        <p:nvSpPr>
          <p:cNvPr id="10" name="flow-arrow"/>
          <p:cNvSpPr/>
          <p:nvPr/>
        </p:nvSpPr>
        <p:spPr>
          <a:xfrm>
            <a:off x="1874520" y="178308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flow-arrow"/>
          <p:cNvSpPr/>
          <p:nvPr/>
        </p:nvSpPr>
        <p:spPr>
          <a:xfrm>
            <a:off x="3931920" y="178308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flow-arrow"/>
          <p:cNvSpPr/>
          <p:nvPr/>
        </p:nvSpPr>
        <p:spPr>
          <a:xfrm>
            <a:off x="6126480" y="178308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053328" y="14813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да</a:t>
            </a:r>
            <a:endParaRPr lang="en-US" sz="1100" dirty="0"/>
          </a:p>
        </p:txBody>
      </p:sp>
      <p:sp>
        <p:nvSpPr>
          <p:cNvPr id="14" name="flow-arrow"/>
          <p:cNvSpPr/>
          <p:nvPr/>
        </p:nvSpPr>
        <p:spPr>
          <a:xfrm>
            <a:off x="7543800" y="2066544"/>
            <a:ext cx="0" cy="53949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flow-arrow"/>
          <p:cNvSpPr/>
          <p:nvPr/>
        </p:nvSpPr>
        <p:spPr>
          <a:xfrm>
            <a:off x="5166360" y="2240280"/>
            <a:ext cx="0" cy="53949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230368" y="23774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нет</a:t>
            </a:r>
            <a:endParaRPr lang="en-US" sz="1100" dirty="0"/>
          </a:p>
        </p:txBody>
      </p:sp>
      <p:sp>
        <p:nvSpPr>
          <p:cNvPr id="17" name="flow-arrow"/>
          <p:cNvSpPr/>
          <p:nvPr/>
        </p:nvSpPr>
        <p:spPr>
          <a:xfrm flipH="1">
            <a:off x="6126480" y="3063240"/>
            <a:ext cx="5029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172200" y="27980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нет</a:t>
            </a:r>
            <a:endParaRPr lang="en-US" sz="1100" dirty="0"/>
          </a:p>
        </p:txBody>
      </p:sp>
      <p:sp>
        <p:nvSpPr>
          <p:cNvPr id="19" name="flow-arrow"/>
          <p:cNvSpPr/>
          <p:nvPr/>
        </p:nvSpPr>
        <p:spPr>
          <a:xfrm>
            <a:off x="7543800" y="3520440"/>
            <a:ext cx="0" cy="43891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589520" y="36210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да</a:t>
            </a:r>
            <a:endParaRPr lang="en-US" sz="1100" dirty="0"/>
          </a:p>
        </p:txBody>
      </p:sp>
      <p:sp>
        <p:nvSpPr>
          <p:cNvPr id="21" name="flow-term"/>
          <p:cNvSpPr/>
          <p:nvPr/>
        </p:nvSpPr>
        <p:spPr>
          <a:xfrm>
            <a:off x="457200" y="2697480"/>
            <a:ext cx="457200" cy="274320"/>
          </a:xfrm>
          <a:prstGeom prst="flowChartTerminator">
            <a:avLst/>
          </a:prstGeom>
          <a:solidFill>
            <a:schemeClr val="tx2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 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начало / конец</a:t>
            </a:r>
            <a:endParaRPr lang="en-US" sz="1100" dirty="0"/>
          </a:p>
        </p:txBody>
      </p:sp>
      <p:sp>
        <p:nvSpPr>
          <p:cNvPr id="23" name="flow-proc"/>
          <p:cNvSpPr/>
          <p:nvPr/>
        </p:nvSpPr>
        <p:spPr>
          <a:xfrm>
            <a:off x="2240280" y="2697480"/>
            <a:ext cx="457200" cy="274320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278892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действие</a:t>
            </a:r>
            <a:endParaRPr lang="en-US" sz="1100" dirty="0"/>
          </a:p>
        </p:txBody>
      </p:sp>
      <p:sp>
        <p:nvSpPr>
          <p:cNvPr id="25" name="flow-dec"/>
          <p:cNvSpPr/>
          <p:nvPr/>
        </p:nvSpPr>
        <p:spPr>
          <a:xfrm>
            <a:off x="457200" y="3108960"/>
            <a:ext cx="457200" cy="274320"/>
          </a:xfrm>
          <a:prstGeom prst="flowChartDecision">
            <a:avLst/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 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проверка условия</a:t>
            </a:r>
            <a:endParaRPr lang="en-US" sz="1100" dirty="0"/>
          </a:p>
        </p:txBody>
      </p:sp>
      <p:sp>
        <p:nvSpPr>
          <p:cNvPr id="27" name="flow-err"/>
          <p:cNvSpPr/>
          <p:nvPr/>
        </p:nvSpPr>
        <p:spPr>
          <a:xfrm>
            <a:off x="2240280" y="3108960"/>
            <a:ext cx="457200" cy="274320"/>
          </a:xfrm>
          <a:prstGeom prst="flowChartProcess">
            <a:avLst/>
          </a:prstGeom>
          <a:solidFill>
            <a:schemeClr val="accent3">
              <a:alpha val="18000"/>
            </a:schemeClr>
          </a:solidFill>
          <a:ln w="15875">
            <a:solidFill>
              <a:schemeClr val="accent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278892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ошибка</a:t>
            </a:r>
            <a:endParaRPr lang="en-US" sz="1100" dirty="0"/>
          </a:p>
        </p:txBody>
      </p:sp>
      <p:sp>
        <p:nvSpPr>
          <p:cNvPr id="29" name="card"/>
          <p:cNvSpPr/>
          <p:nvPr/>
        </p:nvSpPr>
        <p:spPr>
          <a:xfrm>
            <a:off x="457200" y="3794760"/>
            <a:ext cx="56692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" y="379476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A6: не указано наименование поставщика, хотя в строке 6 есть данные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E3 (тариф A1 → B2): ожидалось число, получено 'abc'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chemeClr val="tx2"/>
                </a:solidFill>
              </a:rPr>
              <a:t>Две</a:t>
            </a:r>
            <a:r>
              <a:rPr lang="en-US" sz="2600" b="1" dirty="0">
                <a:solidFill>
                  <a:schemeClr val="tx2"/>
                </a:solidFill>
              </a:rPr>
              <a:t> </a:t>
            </a:r>
            <a:r>
              <a:rPr lang="en-US" sz="2600" b="1" dirty="0" err="1">
                <a:solidFill>
                  <a:schemeClr val="tx2"/>
                </a:solidFill>
              </a:rPr>
              <a:t>ситуации</a:t>
            </a:r>
            <a:r>
              <a:rPr lang="en-US" sz="2600" b="1" dirty="0">
                <a:solidFill>
                  <a:schemeClr val="tx2"/>
                </a:solidFill>
              </a:rPr>
              <a:t>…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badge-1"/>
          <p:cNvSpPr/>
          <p:nvPr/>
        </p:nvSpPr>
        <p:spPr>
          <a:xfrm>
            <a:off x="68580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54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Пропущенное наименование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Таблица заканчивается на первой пустой ячейке имени — строка с данными без имени молча выпала бы из задачи. Проверяются строка под последним поставщиком и столбец за последним потребителем</a:t>
            </a:r>
            <a:endParaRPr lang="en-US" sz="1350" dirty="0"/>
          </a:p>
        </p:txBody>
      </p:sp>
      <p:sp>
        <p:nvSpPr>
          <p:cNvPr id="7" name="chip"/>
          <p:cNvSpPr/>
          <p:nvPr/>
        </p:nvSpPr>
        <p:spPr>
          <a:xfrm>
            <a:off x="685800" y="3931920"/>
            <a:ext cx="3566160" cy="41148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A6: не указано наименование поставщика…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0" name="badge-2"/>
          <p:cNvSpPr/>
          <p:nvPr/>
        </p:nvSpPr>
        <p:spPr>
          <a:xfrm>
            <a:off x="489204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554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Пакетная обработка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1031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Вход — файл, папка или шаблон имён. Каждый файл решается отдельно: ошибка одного не останавливает остальные. Сводка: статус, участники, фиктивный участник, стоимость, ошибки</a:t>
            </a:r>
            <a:endParaRPr lang="en-US" sz="1350" dirty="0"/>
          </a:p>
        </p:txBody>
      </p:sp>
      <p:sp>
        <p:nvSpPr>
          <p:cNvPr id="13" name="chip"/>
          <p:cNvSpPr/>
          <p:nvPr/>
        </p:nvSpPr>
        <p:spPr>
          <a:xfrm>
            <a:off x="4892040" y="3931920"/>
            <a:ext cx="3566160" cy="41148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3931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data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45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Входные файлы при ошибке не изменяются — проверено тестом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Экспорт результатов в Excel (openpyxl)</a:t>
            </a:r>
            <a:endParaRPr lang="en-US" sz="2600" dirty="0"/>
          </a:p>
        </p:txBody>
      </p:sp>
      <p:sp>
        <p:nvSpPr>
          <p:cNvPr id="3" name="excel-frame"/>
          <p:cNvSpPr/>
          <p:nvPr/>
        </p:nvSpPr>
        <p:spPr>
          <a:xfrm>
            <a:off x="457200" y="1325880"/>
            <a:ext cx="8229600" cy="2171286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</p:spPr>
      </p:sp>
      <p:pic>
        <p:nvPicPr>
          <p:cNvPr id="4" name="excel-result" descr="C:\Users\olesy\AppData\Local\Temp\claude\D--transportissue\a0d77f38-161e-405f-9e3b-78798b24f18c\scratchpad\deck\media\s19_1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8229600" cy="21712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5760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Оформление переносится из файла с исходными данными: каждая ячейка результата получает стиль ячейки шаблона с той же ролью — заголовок, первый, средний или последний элемент блока. Рамки, заливки, шрифты и размеры сохраняются при любом числе поставщиков и потребителей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6126480" y="365760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Листы «План перевозок» и «Тарифы»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6126480" y="420624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6364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tx2"/>
                </a:solidFill>
              </a:rPr>
              <a:t>Также .csv и .json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Демонстрация и итог</a:t>
            </a:r>
            <a:endParaRPr lang="en-US" sz="3000" dirty="0"/>
          </a:p>
        </p:txBody>
      </p:sp>
      <p:sp>
        <p:nvSpPr>
          <p:cNvPr id="3" name="code"/>
          <p:cNvSpPr/>
          <p:nvPr/>
        </p:nvSpPr>
        <p:spPr>
          <a:xfrm>
            <a:off x="548640" y="1325880"/>
            <a:ext cx="4846320" cy="96012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4" name="code-text"/>
          <p:cNvSpPr txBox="1"/>
          <p:nvPr/>
        </p:nvSpPr>
        <p:spPr>
          <a:xfrm>
            <a:off x="685800" y="1435608"/>
            <a:ext cx="4572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                 # данные из ТЗ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data -q          # все файлы папки + сводка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data/пример.xlsx -o результат.csv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discover -s tests -t 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6410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минимальная стоимость для данных ТЗ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автотеста, все проходят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сторонние библиотеки: openpyxl и tabulate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88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Спасибо за внимание!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Вопросы?</a:t>
            </a:r>
            <a:endParaRPr lang="en-US" sz="1600" dirty="0"/>
          </a:p>
        </p:txBody>
      </p:sp>
      <p:sp>
        <p:nvSpPr>
          <p:cNvPr id="13" name="route-dot"/>
          <p:cNvSpPr/>
          <p:nvPr/>
        </p:nvSpPr>
        <p:spPr>
          <a:xfrm>
            <a:off x="512064" y="44988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route"/>
          <p:cNvSpPr/>
          <p:nvPr/>
        </p:nvSpPr>
        <p:spPr>
          <a:xfrm>
            <a:off x="658368" y="457200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5" name="route-dot"/>
          <p:cNvSpPr/>
          <p:nvPr/>
        </p:nvSpPr>
        <p:spPr>
          <a:xfrm>
            <a:off x="923544" y="44988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route"/>
          <p:cNvSpPr/>
          <p:nvPr/>
        </p:nvSpPr>
        <p:spPr>
          <a:xfrm>
            <a:off x="1069848" y="457200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7" name="route-dot"/>
          <p:cNvSpPr/>
          <p:nvPr/>
        </p:nvSpPr>
        <p:spPr>
          <a:xfrm>
            <a:off x="1335024" y="44988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route"/>
          <p:cNvSpPr/>
          <p:nvPr/>
        </p:nvSpPr>
        <p:spPr>
          <a:xfrm>
            <a:off x="1481328" y="4572000"/>
            <a:ext cx="2743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9" name="route-dot"/>
          <p:cNvSpPr/>
          <p:nvPr/>
        </p:nvSpPr>
        <p:spPr>
          <a:xfrm>
            <a:off x="1746504" y="44988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1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880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ранспортная задача">
  <a:themeElements>
    <a:clrScheme name="Транспортная задача">
      <a:dk1>
        <a:srgbClr val="1B2432"/>
      </a:dk1>
      <a:lt1>
        <a:srgbClr val="FFFFFF"/>
      </a:lt1>
      <a:dk2>
        <a:srgbClr val="14213D"/>
      </a:dk2>
      <a:lt2>
        <a:srgbClr val="EEF1F6"/>
      </a:lt2>
      <a:accent1>
        <a:srgbClr val="F2A541"/>
      </a:accent1>
      <a:accent2>
        <a:srgbClr val="2A9D8F"/>
      </a:accent2>
      <a:accent3>
        <a:srgbClr val="E76F51"/>
      </a:accent3>
      <a:accent4>
        <a:srgbClr val="5B6B82"/>
      </a:accent4>
      <a:accent5>
        <a:srgbClr val="C9D1DD"/>
      </a:accent5>
      <a:accent6>
        <a:srgbClr val="264653"/>
      </a:accent6>
      <a:hlink>
        <a:srgbClr val="2A9D8F"/>
      </a:hlink>
      <a:folHlink>
        <a:srgbClr val="5B6B82"/>
      </a:folHlink>
    </a:clrScheme>
    <a:fontScheme name="Транспортная задача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2848</Words>
  <Application>Microsoft Office PowerPoint</Application>
  <PresentationFormat>Экран (16:9)</PresentationFormat>
  <Paragraphs>459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Транспортная задача</vt:lpstr>
      <vt:lpstr>Программирование транспортной задачи на Python</vt:lpstr>
      <vt:lpstr>Постановка задачи</vt:lpstr>
      <vt:lpstr>Программа из четырёх частей</vt:lpstr>
      <vt:lpstr>Обзор: модели данных</vt:lpstr>
      <vt:lpstr>Классы: поля и конструкторы</vt:lpstr>
      <vt:lpstr>Классы: методы</vt:lpstr>
      <vt:lpstr>Балансировка: фиктивный участник</vt:lpstr>
      <vt:lpstr>Презентация PowerPoint</vt:lpstr>
      <vt:lpstr>Транспортная задача: математическая модель</vt:lpstr>
      <vt:lpstr>Алгоритм метода потенциалов</vt:lpstr>
      <vt:lpstr>Начальный план: метод минимального элемента</vt:lpstr>
      <vt:lpstr>Базисные клетки и потенциалы</vt:lpstr>
      <vt:lpstr>Проверка оптимальности и выбор входящей клетки</vt:lpstr>
      <vt:lpstr>Цикл пересчёта: поиск через граф</vt:lpstr>
      <vt:lpstr>Алгоритм поиска цикла пересчёта</vt:lpstr>
      <vt:lpstr>Перераспределение перевозок по циклу</vt:lpstr>
      <vt:lpstr>От файла Excel — к проверенной модели</vt:lpstr>
      <vt:lpstr>Главная идея: все ошибки сразу</vt:lpstr>
      <vt:lpstr>Загрузка и проверка файла</vt:lpstr>
      <vt:lpstr>Две ситуации…</vt:lpstr>
      <vt:lpstr>Экспорт результатов в Excel (openpyxl)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транспортной задачи на Python</dc:title>
  <dc:subject>PptxGenJS Presentation</dc:subject>
  <dc:creator>Валишин Н.А., Кадин А.А., Комаров К.А., Ширяева О.Д.</dc:creator>
  <cp:lastModifiedBy>Olesya Shiryaeva</cp:lastModifiedBy>
  <cp:revision>2</cp:revision>
  <dcterms:created xsi:type="dcterms:W3CDTF">2026-10-16T13:53:19Z</dcterms:created>
  <dcterms:modified xsi:type="dcterms:W3CDTF">2026-10-16T14:13:01Z</dcterms:modified>
</cp:coreProperties>
</file>